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 id="2147483663" r:id="rId3"/>
  </p:sldMasterIdLst>
  <p:notesMasterIdLst>
    <p:notesMasterId r:id="rId31"/>
  </p:notesMasterIdLst>
  <p:sldIdLst>
    <p:sldId id="256" r:id="rId4"/>
    <p:sldId id="257" r:id="rId5"/>
    <p:sldId id="258" r:id="rId6"/>
    <p:sldId id="259" r:id="rId7"/>
    <p:sldId id="260" r:id="rId8"/>
    <p:sldId id="261" r:id="rId9"/>
    <p:sldId id="262" r:id="rId10"/>
    <p:sldId id="263" r:id="rId11"/>
    <p:sldId id="284" r:id="rId12"/>
    <p:sldId id="285" r:id="rId13"/>
    <p:sldId id="264" r:id="rId14"/>
    <p:sldId id="265" r:id="rId15"/>
    <p:sldId id="266" r:id="rId16"/>
    <p:sldId id="267" r:id="rId17"/>
    <p:sldId id="268" r:id="rId18"/>
    <p:sldId id="269" r:id="rId19"/>
    <p:sldId id="270" r:id="rId20"/>
    <p:sldId id="271" r:id="rId21"/>
    <p:sldId id="272" r:id="rId22"/>
    <p:sldId id="281" r:id="rId23"/>
    <p:sldId id="273" r:id="rId24"/>
    <p:sldId id="274" r:id="rId25"/>
    <p:sldId id="275" r:id="rId26"/>
    <p:sldId id="277" r:id="rId27"/>
    <p:sldId id="279" r:id="rId28"/>
    <p:sldId id="282" r:id="rId29"/>
    <p:sldId id="283"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26BD35-F5B8-42C8-A48C-3B22BDB0D5EC}">
  <a:tblStyle styleId="{C826BD35-F5B8-42C8-A48C-3B22BDB0D5E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 /><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slide" Target="slides/slide23.xml" /><Relationship Id="rId3" Type="http://schemas.openxmlformats.org/officeDocument/2006/relationships/slideMaster" Target="slideMasters/slideMaster3.xml" /><Relationship Id="rId21" Type="http://schemas.openxmlformats.org/officeDocument/2006/relationships/slide" Target="slides/slide18.xml" /><Relationship Id="rId34" Type="http://schemas.openxmlformats.org/officeDocument/2006/relationships/theme" Target="theme/theme1.xml" /><Relationship Id="rId7" Type="http://schemas.openxmlformats.org/officeDocument/2006/relationships/slide" Target="slides/slide4.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33" Type="http://schemas.openxmlformats.org/officeDocument/2006/relationships/viewProps" Target="viewProps.xml" /><Relationship Id="rId2" Type="http://schemas.openxmlformats.org/officeDocument/2006/relationships/slideMaster" Target="slideMasters/slideMaster2.xml" /><Relationship Id="rId16" Type="http://schemas.openxmlformats.org/officeDocument/2006/relationships/slide" Target="slides/slide13.xml" /><Relationship Id="rId20" Type="http://schemas.openxmlformats.org/officeDocument/2006/relationships/slide" Target="slides/slide17.xml" /><Relationship Id="rId29" Type="http://schemas.openxmlformats.org/officeDocument/2006/relationships/slide" Target="slides/slide26.xml" /><Relationship Id="rId1" Type="http://schemas.openxmlformats.org/officeDocument/2006/relationships/slideMaster" Target="slideMasters/slideMaster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32" Type="http://schemas.openxmlformats.org/officeDocument/2006/relationships/presProps" Target="presProps.xml"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slide" Target="slides/slide25.xml" /><Relationship Id="rId10" Type="http://schemas.openxmlformats.org/officeDocument/2006/relationships/slide" Target="slides/slide7.xml" /><Relationship Id="rId19" Type="http://schemas.openxmlformats.org/officeDocument/2006/relationships/slide" Target="slides/slide16.xml" /><Relationship Id="rId31" Type="http://schemas.openxmlformats.org/officeDocument/2006/relationships/notesMaster" Target="notesMasters/notesMaster1.xml"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slide" Target="slides/slide24.xml" /><Relationship Id="rId30" Type="http://schemas.openxmlformats.org/officeDocument/2006/relationships/slide" Target="slides/slide27.xml" /><Relationship Id="rId35"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0041c6cccf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g30041c6cccf_2_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8ad9ad22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8ad9ad22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8ad9ad229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8ad9ad229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8ad9ad229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8ad9ad229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8ad9ad229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8ad9ad229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8ad9ad229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8ad9ad229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8ad9ad229b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8ad9ad229b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0041c6cccf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30041c6cccf_2_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0041c6cccf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30041c6cccf_2_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1059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0041c6cccf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30041c6cccf_2_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014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01ea477a2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01ea477a2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0041c6cccf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g30041c6cccf_2_1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0041c6cccf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30041c6cccf_2_1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0041c6cccf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30041c6cccf_2_2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0041c6cccf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0041c6cccf_2_26:notes"/>
          <p:cNvSpPr>
            <a:spLocks noGrp="1" noRot="1" noChangeAspect="1"/>
          </p:cNvSpPr>
          <p:nvPr>
            <p:ph type="sldImg" idx="2"/>
          </p:nvPr>
        </p:nvSpPr>
        <p:spPr>
          <a:xfrm>
            <a:off x="556937" y="685800"/>
            <a:ext cx="5744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8adcc7e69f_2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8adcc7e69f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8adcc7e69f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8adcc7e69f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8adcc7e69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8adcc7e69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8adcc7e69f_2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8adcc7e69f_2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0041c6cccf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30041c6cccf_2_3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041c6cccf_2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0041c6cccf_2_3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0041c6cccf_2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0041c6cccf_2_3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0041c6ccc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0041c6ccc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0041c6cccf_2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g30041c6cccf_2_4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p:cSld name="Custom">
    <p:spTree>
      <p:nvGrpSpPr>
        <p:cNvPr id="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p:cSld name="Custom">
    <p:spTree>
      <p:nvGrpSpPr>
        <p:cNvPr id="1"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 /><Relationship Id="rId1" Type="http://schemas.openxmlformats.org/officeDocument/2006/relationships/slideLayout" Target="../slideLayouts/slideLayout12.xml" /></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 /><Relationship Id="rId1" Type="http://schemas.openxmlformats.org/officeDocument/2006/relationships/slideLayout" Target="../slideLayouts/slideLayout1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2.xml"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3.xml" /></Relationships>
</file>

<file path=ppt/slides/_rels/slide1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6.xml" /><Relationship Id="rId1" Type="http://schemas.openxmlformats.org/officeDocument/2006/relationships/slideLayout" Target="../slideLayouts/slideLayout13.xml" /></Relationships>
</file>

<file path=ppt/slides/_rels/slide1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7.xml" /><Relationship Id="rId1" Type="http://schemas.openxmlformats.org/officeDocument/2006/relationships/slideLayout" Target="../slideLayouts/slideLayout13.xml" /></Relationships>
</file>

<file path=ppt/slides/_rels/slide1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8.xml" /><Relationship Id="rId1" Type="http://schemas.openxmlformats.org/officeDocument/2006/relationships/slideLayout" Target="../slideLayouts/slideLayout13.xml" /><Relationship Id="rId4" Type="http://schemas.openxmlformats.org/officeDocument/2006/relationships/image" Target="../media/image5.png" /></Relationships>
</file>

<file path=ppt/slides/_rels/slide1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9.xml" /><Relationship Id="rId1" Type="http://schemas.openxmlformats.org/officeDocument/2006/relationships/slideLayout" Target="../slideLayouts/slideLayout13.xml" /></Relationships>
</file>

<file path=ppt/slides/_rels/slide2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3.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3.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3.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3.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
        <p:cNvGrpSpPr/>
        <p:nvPr/>
      </p:nvGrpSpPr>
      <p:grpSpPr>
        <a:xfrm>
          <a:off x="0" y="0"/>
          <a:ext cx="0" cy="0"/>
          <a:chOff x="0" y="0"/>
          <a:chExt cx="0" cy="0"/>
        </a:xfrm>
      </p:grpSpPr>
      <p:sp>
        <p:nvSpPr>
          <p:cNvPr id="58" name="Google Shape;58;p17"/>
          <p:cNvSpPr txBox="1"/>
          <p:nvPr/>
        </p:nvSpPr>
        <p:spPr>
          <a:xfrm>
            <a:off x="957168" y="794217"/>
            <a:ext cx="6879391" cy="216113"/>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500"/>
              <a:buFont typeface="Calibri"/>
              <a:buNone/>
            </a:pPr>
            <a:r>
              <a:rPr lang="en" sz="2500" b="1" i="0" u="none" strike="noStrike" cap="none">
                <a:solidFill>
                  <a:schemeClr val="dk1"/>
                </a:solidFill>
                <a:latin typeface="Calibri"/>
                <a:ea typeface="Calibri"/>
                <a:cs typeface="Calibri"/>
                <a:sym typeface="Calibri"/>
              </a:rPr>
              <a:t>B. Tech ECE  PROJECT-1  Review-1</a:t>
            </a:r>
            <a:endParaRPr sz="1100"/>
          </a:p>
        </p:txBody>
      </p:sp>
      <p:sp>
        <p:nvSpPr>
          <p:cNvPr id="59" name="Google Shape;59;p17"/>
          <p:cNvSpPr txBox="1"/>
          <p:nvPr/>
        </p:nvSpPr>
        <p:spPr>
          <a:xfrm>
            <a:off x="867600" y="1392070"/>
            <a:ext cx="7408800" cy="3278100"/>
          </a:xfrm>
          <a:prstGeom prst="rect">
            <a:avLst/>
          </a:prstGeom>
          <a:noFill/>
          <a:ln>
            <a:noFill/>
          </a:ln>
        </p:spPr>
        <p:txBody>
          <a:bodyPr spcFirstLastPara="1" wrap="square" lIns="0" tIns="0" rIns="0" bIns="0" anchor="t" anchorCtr="0">
            <a:noAutofit/>
          </a:bodyPr>
          <a:lstStyle/>
          <a:p>
            <a:pPr marL="127000" marR="0" lvl="0" indent="0" algn="ctr" rtl="0">
              <a:lnSpc>
                <a:spcPct val="100000"/>
              </a:lnSpc>
              <a:spcBef>
                <a:spcPts val="0"/>
              </a:spcBef>
              <a:spcAft>
                <a:spcPts val="0"/>
              </a:spcAft>
              <a:buClr>
                <a:schemeClr val="dk1"/>
              </a:buClr>
              <a:buSzPts val="3000"/>
              <a:buFont typeface="Calibri"/>
              <a:buNone/>
            </a:pPr>
            <a:endParaRPr sz="1100" dirty="0"/>
          </a:p>
          <a:p>
            <a:pPr marL="127000" marR="0" lvl="0" indent="0" algn="l" rtl="0">
              <a:lnSpc>
                <a:spcPct val="100000"/>
              </a:lnSpc>
              <a:spcBef>
                <a:spcPts val="800"/>
              </a:spcBef>
              <a:spcAft>
                <a:spcPts val="0"/>
              </a:spcAft>
              <a:buClr>
                <a:schemeClr val="dk1"/>
              </a:buClr>
              <a:buSzPts val="2500"/>
              <a:buFont typeface="Calibri"/>
              <a:buNone/>
            </a:pPr>
            <a:r>
              <a:rPr lang="en" sz="2500" dirty="0">
                <a:solidFill>
                  <a:schemeClr val="dk1"/>
                </a:solidFill>
                <a:latin typeface="Calibri"/>
                <a:ea typeface="Calibri"/>
                <a:cs typeface="Calibri"/>
                <a:sym typeface="Calibri"/>
              </a:rPr>
              <a:t>Enhancing Antenna Performance using Metamaterial</a:t>
            </a:r>
            <a:endParaRPr sz="2500" b="0" i="0" u="none" strike="noStrike" cap="none" dirty="0">
              <a:solidFill>
                <a:schemeClr val="dk1"/>
              </a:solidFill>
              <a:latin typeface="Calibri"/>
              <a:ea typeface="Calibri"/>
              <a:cs typeface="Calibri"/>
              <a:sym typeface="Calibri"/>
            </a:endParaRPr>
          </a:p>
          <a:p>
            <a:pPr marL="127000" marR="0" lvl="0" indent="0" algn="just" rtl="0">
              <a:lnSpc>
                <a:spcPct val="100000"/>
              </a:lnSpc>
              <a:spcBef>
                <a:spcPts val="4000"/>
              </a:spcBef>
              <a:spcAft>
                <a:spcPts val="0"/>
              </a:spcAft>
              <a:buClr>
                <a:schemeClr val="dk1"/>
              </a:buClr>
              <a:buSzPts val="2500"/>
              <a:buFont typeface="Calibri"/>
              <a:buNone/>
            </a:pPr>
            <a:r>
              <a:rPr lang="en" sz="1900" b="0" i="0" u="none" strike="noStrike" cap="none" dirty="0">
                <a:solidFill>
                  <a:schemeClr val="dk1"/>
                </a:solidFill>
                <a:latin typeface="Calibri"/>
                <a:ea typeface="Calibri"/>
                <a:cs typeface="Calibri"/>
                <a:sym typeface="Calibri"/>
              </a:rPr>
              <a:t>        </a:t>
            </a:r>
            <a:endParaRPr sz="500" dirty="0"/>
          </a:p>
          <a:p>
            <a:pPr marL="127000" marR="0" lvl="0" indent="0" algn="just" rtl="0">
              <a:lnSpc>
                <a:spcPct val="100000"/>
              </a:lnSpc>
              <a:spcBef>
                <a:spcPts val="1100"/>
              </a:spcBef>
              <a:spcAft>
                <a:spcPts val="0"/>
              </a:spcAft>
              <a:buClr>
                <a:schemeClr val="dk1"/>
              </a:buClr>
              <a:buSzPts val="2500"/>
              <a:buFont typeface="Calibri"/>
              <a:buNone/>
            </a:pPr>
            <a:r>
              <a:rPr lang="en" sz="1900" dirty="0">
                <a:solidFill>
                  <a:schemeClr val="dk1"/>
                </a:solidFill>
                <a:latin typeface="Calibri"/>
                <a:ea typeface="Calibri"/>
                <a:cs typeface="Calibri"/>
                <a:sym typeface="Calibri"/>
              </a:rPr>
              <a:t>Team Members:	                  		        Guide:</a:t>
            </a:r>
            <a:endParaRPr sz="1900" dirty="0">
              <a:solidFill>
                <a:schemeClr val="dk1"/>
              </a:solidFill>
              <a:latin typeface="Calibri"/>
              <a:ea typeface="Calibri"/>
              <a:cs typeface="Calibri"/>
              <a:sym typeface="Calibri"/>
            </a:endParaRPr>
          </a:p>
          <a:p>
            <a:pPr marL="127000" marR="0" lvl="0" indent="0" algn="just" rtl="0">
              <a:lnSpc>
                <a:spcPct val="100000"/>
              </a:lnSpc>
              <a:spcBef>
                <a:spcPts val="1100"/>
              </a:spcBef>
              <a:spcAft>
                <a:spcPts val="0"/>
              </a:spcAft>
              <a:buClr>
                <a:schemeClr val="dk1"/>
              </a:buClr>
              <a:buSzPts val="2500"/>
              <a:buFont typeface="Calibri"/>
              <a:buNone/>
            </a:pPr>
            <a:r>
              <a:rPr lang="en" sz="1900" dirty="0">
                <a:solidFill>
                  <a:schemeClr val="dk1"/>
                </a:solidFill>
                <a:latin typeface="Calibri"/>
                <a:ea typeface="Calibri"/>
                <a:cs typeface="Calibri"/>
                <a:sym typeface="Calibri"/>
              </a:rPr>
              <a:t>Akhila Pingali-21BEC0584		                         Dr. Tanmaya Kumar Das</a:t>
            </a:r>
            <a:endParaRPr sz="1900" dirty="0">
              <a:solidFill>
                <a:schemeClr val="dk1"/>
              </a:solidFill>
              <a:latin typeface="Calibri"/>
              <a:ea typeface="Calibri"/>
              <a:cs typeface="Calibri"/>
              <a:sym typeface="Calibri"/>
            </a:endParaRPr>
          </a:p>
          <a:p>
            <a:pPr marL="127000" marR="0" lvl="0" indent="0" algn="just" rtl="0">
              <a:lnSpc>
                <a:spcPct val="100000"/>
              </a:lnSpc>
              <a:spcBef>
                <a:spcPts val="1100"/>
              </a:spcBef>
              <a:spcAft>
                <a:spcPts val="0"/>
              </a:spcAft>
              <a:buClr>
                <a:schemeClr val="dk1"/>
              </a:buClr>
              <a:buSzPts val="2500"/>
              <a:buFont typeface="Calibri"/>
              <a:buNone/>
            </a:pPr>
            <a:r>
              <a:rPr lang="en" sz="1900" dirty="0">
                <a:solidFill>
                  <a:schemeClr val="dk1"/>
                </a:solidFill>
                <a:latin typeface="Calibri"/>
                <a:ea typeface="Calibri"/>
                <a:cs typeface="Calibri"/>
                <a:sym typeface="Calibri"/>
              </a:rPr>
              <a:t>Aryan Paruthi-21BEC0467</a:t>
            </a:r>
            <a:endParaRPr sz="1900" dirty="0">
              <a:solidFill>
                <a:schemeClr val="dk1"/>
              </a:solidFill>
              <a:latin typeface="Calibri"/>
              <a:ea typeface="Calibri"/>
              <a:cs typeface="Calibri"/>
              <a:sym typeface="Calibri"/>
            </a:endParaRPr>
          </a:p>
          <a:p>
            <a:pPr marL="127000" marR="0" lvl="0" indent="0" algn="just" rtl="0">
              <a:lnSpc>
                <a:spcPct val="100000"/>
              </a:lnSpc>
              <a:spcBef>
                <a:spcPts val="1100"/>
              </a:spcBef>
              <a:spcAft>
                <a:spcPts val="0"/>
              </a:spcAft>
              <a:buClr>
                <a:schemeClr val="dk1"/>
              </a:buClr>
              <a:buSzPts val="2500"/>
              <a:buFont typeface="Calibri"/>
              <a:buNone/>
            </a:pPr>
            <a:r>
              <a:rPr lang="en" sz="1900" dirty="0">
                <a:solidFill>
                  <a:schemeClr val="dk1"/>
                </a:solidFill>
                <a:latin typeface="Calibri"/>
                <a:ea typeface="Calibri"/>
                <a:cs typeface="Calibri"/>
                <a:sym typeface="Calibri"/>
              </a:rPr>
              <a:t>Neelesh Kumar Singh-21BEC0187</a:t>
            </a:r>
            <a:endParaRPr sz="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8"/>
          <p:cNvSpPr txBox="1"/>
          <p:nvPr/>
        </p:nvSpPr>
        <p:spPr>
          <a:xfrm>
            <a:off x="555575" y="325125"/>
            <a:ext cx="5074500" cy="53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t>INTRODUCTION</a:t>
            </a:r>
            <a:endParaRPr sz="1600" b="1" dirty="0"/>
          </a:p>
        </p:txBody>
      </p:sp>
      <p:sp>
        <p:nvSpPr>
          <p:cNvPr id="65" name="Google Shape;65;p18"/>
          <p:cNvSpPr txBox="1"/>
          <p:nvPr/>
        </p:nvSpPr>
        <p:spPr>
          <a:xfrm>
            <a:off x="279775" y="1000825"/>
            <a:ext cx="8632200" cy="3819600"/>
          </a:xfrm>
          <a:prstGeom prst="rect">
            <a:avLst/>
          </a:prstGeom>
          <a:noFill/>
          <a:ln>
            <a:noFill/>
          </a:ln>
        </p:spPr>
        <p:txBody>
          <a:bodyPr spcFirstLastPara="1" wrap="square" lIns="91425" tIns="91425" rIns="91425" bIns="91425" anchor="t" anchorCtr="0">
            <a:noAutofit/>
          </a:bodyPr>
          <a:lstStyle/>
          <a:p>
            <a:pPr marL="457200" lvl="0" indent="-317500" algn="just" rtl="0">
              <a:spcBef>
                <a:spcPts val="0"/>
              </a:spcBef>
              <a:spcAft>
                <a:spcPts val="0"/>
              </a:spcAft>
              <a:buSzPts val="1400"/>
              <a:buFont typeface="Wingdings" panose="05000000000000000000" pitchFamily="2" charset="2"/>
              <a:buChar char="§"/>
            </a:pPr>
            <a:r>
              <a:rPr lang="en" dirty="0"/>
              <a:t>The relentless growth of wireless communication technologies, primarily driven by the proliferation of mobile devices, the surge in data-intensive applications, and the Internet of Things (IoT), has led to an escalating demand for bandwidth. </a:t>
            </a:r>
            <a:endParaRPr dirty="0"/>
          </a:p>
          <a:p>
            <a:pPr marL="457200" lvl="0" indent="-317500" algn="just" rtl="0">
              <a:spcBef>
                <a:spcPts val="0"/>
              </a:spcBef>
              <a:spcAft>
                <a:spcPts val="0"/>
              </a:spcAft>
              <a:buSzPts val="1400"/>
              <a:buFont typeface="Wingdings" panose="05000000000000000000" pitchFamily="2" charset="2"/>
              <a:buChar char="§"/>
            </a:pPr>
            <a:r>
              <a:rPr lang="en" dirty="0"/>
              <a:t>The existing bandwidth resources are under significant stress, necessitating innovative solutions to enhance the capacity and efficiency of communication systems. </a:t>
            </a:r>
            <a:endParaRPr dirty="0"/>
          </a:p>
          <a:p>
            <a:pPr marL="457200" lvl="0" indent="-317500" algn="just" rtl="0">
              <a:spcBef>
                <a:spcPts val="0"/>
              </a:spcBef>
              <a:spcAft>
                <a:spcPts val="0"/>
              </a:spcAft>
              <a:buSzPts val="1400"/>
              <a:buFont typeface="Wingdings" panose="05000000000000000000" pitchFamily="2" charset="2"/>
              <a:buChar char="§"/>
            </a:pPr>
            <a:r>
              <a:rPr lang="en" dirty="0"/>
              <a:t>Among the promising solutions is Multiple Input Multiple Output (MIMO) technology, which plays a crucial role in the evolution of 5G and future wireless communication standards. </a:t>
            </a:r>
            <a:endParaRPr dirty="0"/>
          </a:p>
          <a:p>
            <a:pPr marL="457200" lvl="0" indent="-317500" algn="just" rtl="0">
              <a:spcBef>
                <a:spcPts val="0"/>
              </a:spcBef>
              <a:spcAft>
                <a:spcPts val="0"/>
              </a:spcAft>
              <a:buSzPts val="1400"/>
              <a:buFont typeface="Wingdings" panose="05000000000000000000" pitchFamily="2" charset="2"/>
              <a:buChar char="§"/>
            </a:pPr>
            <a:r>
              <a:rPr lang="en" dirty="0"/>
              <a:t>MIMO technology enables the utilization of multiple antennas at both the transmitter and receiver ends to improve communication performance.</a:t>
            </a:r>
            <a:endParaRPr dirty="0"/>
          </a:p>
          <a:p>
            <a:pPr marL="457200" lvl="0" indent="-317500" algn="just" rtl="0">
              <a:spcBef>
                <a:spcPts val="0"/>
              </a:spcBef>
              <a:spcAft>
                <a:spcPts val="0"/>
              </a:spcAft>
              <a:buSzPts val="1400"/>
              <a:buFont typeface="Wingdings" panose="05000000000000000000" pitchFamily="2" charset="2"/>
              <a:buChar char="§"/>
            </a:pPr>
            <a:r>
              <a:rPr lang="en" dirty="0"/>
              <a:t>However, the implementation of MIMO technology, especially in the context of 5G terminals, presents challenges such as the need for optimal isolation between closely spaced antennas and the demand for compact and lightweight designs. </a:t>
            </a:r>
            <a:endParaRPr dirty="0"/>
          </a:p>
          <a:p>
            <a:pPr marL="457200" lvl="0" indent="-317500" algn="just" rtl="0">
              <a:spcBef>
                <a:spcPts val="0"/>
              </a:spcBef>
              <a:spcAft>
                <a:spcPts val="0"/>
              </a:spcAft>
              <a:buSzPts val="1400"/>
              <a:buFont typeface="Wingdings" panose="05000000000000000000" pitchFamily="2" charset="2"/>
              <a:buChar char="§"/>
            </a:pPr>
            <a:r>
              <a:rPr lang="en" dirty="0"/>
              <a:t>This review delves into the utilization of metamaterials to address these challenges, providing a comprehensive overview of various metamaterial-based single and MIMO antenna designs aimed at enhancing performance metrics such as gain, bandwidth, isolation, and miniaturization.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9"/>
          <p:cNvSpPr txBox="1"/>
          <p:nvPr/>
        </p:nvSpPr>
        <p:spPr>
          <a:xfrm>
            <a:off x="624500" y="269975"/>
            <a:ext cx="5529600" cy="63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METAMATERIALS BACKGROUND</a:t>
            </a:r>
            <a:endParaRPr b="1" dirty="0"/>
          </a:p>
        </p:txBody>
      </p:sp>
      <p:sp>
        <p:nvSpPr>
          <p:cNvPr id="71" name="Google Shape;71;p19"/>
          <p:cNvSpPr txBox="1"/>
          <p:nvPr/>
        </p:nvSpPr>
        <p:spPr>
          <a:xfrm>
            <a:off x="390100" y="959450"/>
            <a:ext cx="8439300" cy="3847200"/>
          </a:xfrm>
          <a:prstGeom prst="rect">
            <a:avLst/>
          </a:prstGeom>
          <a:noFill/>
          <a:ln>
            <a:noFill/>
          </a:ln>
        </p:spPr>
        <p:txBody>
          <a:bodyPr spcFirstLastPara="1" wrap="square" lIns="91425" tIns="91425" rIns="91425" bIns="91425" anchor="t" anchorCtr="0">
            <a:noAutofit/>
          </a:bodyPr>
          <a:lstStyle/>
          <a:p>
            <a:pPr marL="457200" lvl="0" indent="-317500" algn="just" rtl="0">
              <a:spcBef>
                <a:spcPts val="0"/>
              </a:spcBef>
              <a:spcAft>
                <a:spcPts val="0"/>
              </a:spcAft>
              <a:buSzPts val="1400"/>
              <a:buFont typeface="Wingdings" panose="05000000000000000000" pitchFamily="2" charset="2"/>
              <a:buChar char="§"/>
            </a:pPr>
            <a:r>
              <a:rPr lang="en" dirty="0"/>
              <a:t>Metamaterials are artificially engineered materials designed to exhibit electromagnetic properties that are not found in natural materials. </a:t>
            </a:r>
            <a:endParaRPr dirty="0"/>
          </a:p>
          <a:p>
            <a:pPr marL="457200" lvl="0" indent="-317500" algn="just" rtl="0">
              <a:spcBef>
                <a:spcPts val="0"/>
              </a:spcBef>
              <a:spcAft>
                <a:spcPts val="0"/>
              </a:spcAft>
              <a:buSzPts val="1400"/>
              <a:buFont typeface="Wingdings" panose="05000000000000000000" pitchFamily="2" charset="2"/>
              <a:buChar char="§"/>
            </a:pPr>
            <a:r>
              <a:rPr lang="en" dirty="0"/>
              <a:t>These properties stem from the specific arrangement of their subwavelength structural elements, rather than their chemical composition. The concept of metamaterials encompasses a wide range of electromagnetic phenomena, including negative refraction, electromagnetic cloaking, and superlensing, which can be leveraged to manipulate electromagnetic waves in unprecedented ways. </a:t>
            </a:r>
            <a:endParaRPr dirty="0"/>
          </a:p>
          <a:p>
            <a:pPr marL="457200" lvl="0" indent="-317500" algn="just" rtl="0">
              <a:spcBef>
                <a:spcPts val="0"/>
              </a:spcBef>
              <a:spcAft>
                <a:spcPts val="0"/>
              </a:spcAft>
              <a:buSzPts val="1400"/>
              <a:buFont typeface="Wingdings" panose="05000000000000000000" pitchFamily="2" charset="2"/>
              <a:buChar char="§"/>
            </a:pPr>
            <a:r>
              <a:rPr lang="en" dirty="0"/>
              <a:t>The unique properties of metamaterials have spurred significant interest across various fields, including optics, electronics, energy, and medicine. </a:t>
            </a:r>
            <a:endParaRPr dirty="0"/>
          </a:p>
          <a:p>
            <a:pPr marL="457200" lvl="0" indent="-317500" algn="just" rtl="0">
              <a:spcBef>
                <a:spcPts val="0"/>
              </a:spcBef>
              <a:spcAft>
                <a:spcPts val="0"/>
              </a:spcAft>
              <a:buSzPts val="1400"/>
              <a:buFont typeface="Wingdings" panose="05000000000000000000" pitchFamily="2" charset="2"/>
              <a:buChar char="§"/>
            </a:pPr>
            <a:r>
              <a:rPr lang="en" dirty="0"/>
              <a:t>In the context of antenna design, metamaterials offer innovative solutions to longstanding challenges, enabling advancements in miniaturization, performance enhancement, and multifunctionality. </a:t>
            </a:r>
            <a:endParaRPr dirty="0"/>
          </a:p>
          <a:p>
            <a:pPr marL="457200" lvl="0" indent="-317500" algn="just" rtl="0">
              <a:spcBef>
                <a:spcPts val="0"/>
              </a:spcBef>
              <a:spcAft>
                <a:spcPts val="0"/>
              </a:spcAft>
              <a:buSzPts val="1400"/>
              <a:buFont typeface="Wingdings" panose="05000000000000000000" pitchFamily="2" charset="2"/>
              <a:buChar char="§"/>
            </a:pPr>
            <a:r>
              <a:rPr lang="en" dirty="0"/>
              <a:t>This review focuses on the application of metamaterials in antenna technology, exploring their potential to revolutionize communication systems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0"/>
          <p:cNvSpPr txBox="1"/>
          <p:nvPr/>
        </p:nvSpPr>
        <p:spPr>
          <a:xfrm>
            <a:off x="334925" y="172200"/>
            <a:ext cx="82323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APPLICATIONS OF METAMATERIALS IN ANTENNA DESIGN</a:t>
            </a:r>
            <a:endParaRPr b="1" dirty="0"/>
          </a:p>
        </p:txBody>
      </p:sp>
      <p:sp>
        <p:nvSpPr>
          <p:cNvPr id="77" name="Google Shape;77;p20"/>
          <p:cNvSpPr txBox="1"/>
          <p:nvPr/>
        </p:nvSpPr>
        <p:spPr>
          <a:xfrm>
            <a:off x="334925" y="682500"/>
            <a:ext cx="8149500" cy="3778500"/>
          </a:xfrm>
          <a:prstGeom prst="rect">
            <a:avLst/>
          </a:prstGeom>
          <a:noFill/>
          <a:ln>
            <a:noFill/>
          </a:ln>
        </p:spPr>
        <p:txBody>
          <a:bodyPr spcFirstLastPara="1" wrap="square" lIns="91425" tIns="91425" rIns="91425" bIns="91425" anchor="t" anchorCtr="0">
            <a:noAutofit/>
          </a:bodyPr>
          <a:lstStyle/>
          <a:p>
            <a:pPr marL="139700" lvl="0" algn="just" rtl="0">
              <a:spcBef>
                <a:spcPts val="0"/>
              </a:spcBef>
              <a:spcAft>
                <a:spcPts val="0"/>
              </a:spcAft>
              <a:buSzPts val="1400"/>
            </a:pPr>
            <a:r>
              <a:rPr lang="en" b="1" dirty="0"/>
              <a:t>Gain Enhancement:</a:t>
            </a:r>
            <a:endParaRPr lang="en-US" b="1" dirty="0"/>
          </a:p>
          <a:p>
            <a:pPr marL="425450" lvl="0" indent="-285750" algn="just" rtl="0">
              <a:spcBef>
                <a:spcPts val="0"/>
              </a:spcBef>
              <a:spcAft>
                <a:spcPts val="0"/>
              </a:spcAft>
              <a:buSzPts val="1400"/>
              <a:buFont typeface="Wingdings" panose="05000000000000000000" pitchFamily="2" charset="2"/>
              <a:buChar char="q"/>
            </a:pPr>
            <a:r>
              <a:rPr lang="en-US" dirty="0"/>
              <a:t>Conventional Challenges: Traditional antennas struggle to achieve high gain with a compact size, often needing large radiating apertures and thick substrates with low permittivity.</a:t>
            </a:r>
          </a:p>
          <a:p>
            <a:pPr marL="425450" lvl="0" indent="-285750" algn="just" rtl="0">
              <a:spcBef>
                <a:spcPts val="0"/>
              </a:spcBef>
              <a:spcAft>
                <a:spcPts val="0"/>
              </a:spcAft>
              <a:buSzPts val="1400"/>
              <a:buFont typeface="Wingdings" panose="05000000000000000000" pitchFamily="2" charset="2"/>
              <a:buChar char="q"/>
            </a:pPr>
            <a:r>
              <a:rPr lang="en-US" dirty="0"/>
              <a:t>Metamaterial Solutions: Metamaterials, like single and dual-layer </a:t>
            </a:r>
            <a:r>
              <a:rPr lang="en-US" dirty="0" err="1"/>
              <a:t>metasurfaces</a:t>
            </a:r>
            <a:r>
              <a:rPr lang="en-US" dirty="0"/>
              <a:t>, manipulate the refractive index and electromagnetic response, allowing gain enhancement without increasing physical size. They also enable consistent directional bore sight radiation, critical for high directivity.</a:t>
            </a:r>
          </a:p>
          <a:p>
            <a:pPr marL="425450" lvl="0" indent="-285750" algn="just" rtl="0">
              <a:spcBef>
                <a:spcPts val="0"/>
              </a:spcBef>
              <a:spcAft>
                <a:spcPts val="0"/>
              </a:spcAft>
              <a:buSzPts val="1400"/>
              <a:buFont typeface="Wingdings" panose="05000000000000000000" pitchFamily="2" charset="2"/>
              <a:buChar char="q"/>
            </a:pPr>
            <a:r>
              <a:rPr lang="en-US" dirty="0"/>
              <a:t>Examples: Incorporating metamaterials into antenna designs significantly boosts gain. A metamaterial-based patch antenna with a single-layer </a:t>
            </a:r>
            <a:r>
              <a:rPr lang="en-US" dirty="0" err="1"/>
              <a:t>metasurface</a:t>
            </a:r>
            <a:r>
              <a:rPr lang="en-US" dirty="0"/>
              <a:t> showed substantial gain improvement, along with potential for filtering and circular polarization.</a:t>
            </a:r>
          </a:p>
          <a:p>
            <a:pPr marL="425450" lvl="0" indent="-285750" algn="just" rtl="0">
              <a:spcBef>
                <a:spcPts val="0"/>
              </a:spcBef>
              <a:spcAft>
                <a:spcPts val="0"/>
              </a:spcAft>
              <a:buSzPts val="1400"/>
              <a:buFont typeface="Wingdings" panose="05000000000000000000" pitchFamily="2" charset="2"/>
              <a:buChar char="q"/>
            </a:pPr>
            <a:endParaRPr lang="en-US" dirty="0"/>
          </a:p>
          <a:p>
            <a:pPr marL="139700" lvl="0" algn="just" rtl="0">
              <a:spcBef>
                <a:spcPts val="0"/>
              </a:spcBef>
              <a:spcAft>
                <a:spcPts val="0"/>
              </a:spcAft>
              <a:buClr>
                <a:schemeClr val="dk1"/>
              </a:buClr>
              <a:buSzPts val="1400"/>
            </a:pPr>
            <a:r>
              <a:rPr lang="en-US" b="1" dirty="0">
                <a:solidFill>
                  <a:schemeClr val="dk1"/>
                </a:solidFill>
              </a:rPr>
              <a:t>Bandwidth Enhancement:</a:t>
            </a:r>
          </a:p>
          <a:p>
            <a:pPr marL="425450" lvl="0" indent="-285750" algn="just" rtl="0">
              <a:spcBef>
                <a:spcPts val="0"/>
              </a:spcBef>
              <a:spcAft>
                <a:spcPts val="0"/>
              </a:spcAft>
              <a:buClr>
                <a:schemeClr val="dk1"/>
              </a:buClr>
              <a:buSzPts val="1400"/>
              <a:buFont typeface="Wingdings" panose="05000000000000000000" pitchFamily="2" charset="2"/>
              <a:buChar char="q"/>
            </a:pPr>
            <a:r>
              <a:rPr lang="en" dirty="0">
                <a:solidFill>
                  <a:schemeClr val="dk1"/>
                </a:solidFill>
              </a:rPr>
              <a:t>Importance of Bandwidth: Bandwidth is crucial for modern communication, affecting the range of frequencies an antenna can operate on, allowing for higher data rates and more reliable links.</a:t>
            </a:r>
          </a:p>
          <a:p>
            <a:pPr marL="425450" lvl="0" indent="-285750" algn="just" rtl="0">
              <a:spcBef>
                <a:spcPts val="0"/>
              </a:spcBef>
              <a:spcAft>
                <a:spcPts val="0"/>
              </a:spcAft>
              <a:buClr>
                <a:schemeClr val="dk1"/>
              </a:buClr>
              <a:buSzPts val="1400"/>
              <a:buFont typeface="Wingdings" panose="05000000000000000000" pitchFamily="2" charset="2"/>
              <a:buChar char="q"/>
            </a:pPr>
            <a:r>
              <a:rPr lang="en" dirty="0">
                <a:solidFill>
                  <a:schemeClr val="dk1"/>
                </a:solidFill>
              </a:rPr>
              <a:t>Metamaterial Approaches: Metamaterials can enhance bandwidth by enabling compact, efficient designs. By carefully designing unit cells, they create multiple resonances, improving impedance matching over a wider frequency range.</a:t>
            </a:r>
          </a:p>
          <a:p>
            <a:pPr marL="425450" lvl="0" indent="-285750" algn="just" rtl="0">
              <a:spcBef>
                <a:spcPts val="0"/>
              </a:spcBef>
              <a:spcAft>
                <a:spcPts val="0"/>
              </a:spcAft>
              <a:buClr>
                <a:schemeClr val="dk1"/>
              </a:buClr>
              <a:buSzPts val="1400"/>
              <a:buFont typeface="Wingdings" panose="05000000000000000000" pitchFamily="2" charset="2"/>
              <a:buChar char="q"/>
            </a:pPr>
            <a:r>
              <a:rPr lang="en" dirty="0">
                <a:solidFill>
                  <a:schemeClr val="dk1"/>
                </a:solidFill>
              </a:rPr>
              <a:t>Examples: A 4×4 Butler Matrix with metamaterial structures improved bandwidth by 8.2 times compared to standard designs, meeting the growing demands of advanced communication systems.</a:t>
            </a:r>
            <a:endParaRPr dirty="0">
              <a:solidFill>
                <a:schemeClr val="dk1"/>
              </a:solidFill>
            </a:endParaRPr>
          </a:p>
          <a:p>
            <a:pPr marL="0" lvl="0" indent="0" algn="just" rtl="0">
              <a:spcBef>
                <a:spcPts val="0"/>
              </a:spcBef>
              <a:spcAft>
                <a:spcPts val="0"/>
              </a:spcAft>
              <a:buClr>
                <a:schemeClr val="dk1"/>
              </a:buClr>
              <a:buSzPts val="1100"/>
              <a:buFont typeface="Arial"/>
              <a:buNone/>
            </a:pPr>
            <a:endParaRPr dirty="0"/>
          </a:p>
          <a:p>
            <a:pPr marL="0" lvl="0" indent="457200" algn="just" rtl="0">
              <a:spcBef>
                <a:spcPts val="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1"/>
          <p:cNvSpPr txBox="1"/>
          <p:nvPr/>
        </p:nvSpPr>
        <p:spPr>
          <a:xfrm>
            <a:off x="388264" y="288895"/>
            <a:ext cx="8159052" cy="468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Isolation Enhancement:</a:t>
            </a:r>
          </a:p>
          <a:p>
            <a:pPr marL="285750" lvl="0" indent="-285750" algn="just" rtl="0">
              <a:spcBef>
                <a:spcPts val="0"/>
              </a:spcBef>
              <a:spcAft>
                <a:spcPts val="0"/>
              </a:spcAft>
              <a:buFont typeface="Wingdings" panose="05000000000000000000" pitchFamily="2" charset="2"/>
              <a:buChar char="q"/>
            </a:pPr>
            <a:r>
              <a:rPr lang="en" dirty="0"/>
              <a:t>MIMO Systems: Mutual coupling in MIMO systems reduces isolation and degrades performance. High isolation ensures independent operation of antenna elements.</a:t>
            </a:r>
          </a:p>
          <a:p>
            <a:pPr marL="285750" lvl="0" indent="-285750" algn="just" rtl="0">
              <a:spcBef>
                <a:spcPts val="0"/>
              </a:spcBef>
              <a:spcAft>
                <a:spcPts val="0"/>
              </a:spcAft>
              <a:buFont typeface="Wingdings" panose="05000000000000000000" pitchFamily="2" charset="2"/>
              <a:buChar char="q"/>
            </a:pPr>
            <a:r>
              <a:rPr lang="en" dirty="0"/>
              <a:t>Metamaterial Techniques: Metamaterials like Electromagnetic Band Gap (EBG) and Defected Ground Structures (DGS) suppress mutual coupling and improve isolation by blocking surface waves and altering current distribution.</a:t>
            </a:r>
          </a:p>
          <a:p>
            <a:pPr marL="285750" lvl="0" indent="-285750" algn="just" rtl="0">
              <a:spcBef>
                <a:spcPts val="0"/>
              </a:spcBef>
              <a:spcAft>
                <a:spcPts val="0"/>
              </a:spcAft>
              <a:buFont typeface="Wingdings" panose="05000000000000000000" pitchFamily="2" charset="2"/>
              <a:buChar char="q"/>
            </a:pPr>
            <a:r>
              <a:rPr lang="en" dirty="0"/>
              <a:t>Examples: MIMO antennas with EBG structures show significant isolation improvement, suitable for 5G millimeter-wave applications.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b="1" dirty="0">
                <a:solidFill>
                  <a:schemeClr val="dk1"/>
                </a:solidFill>
              </a:rPr>
              <a:t>Antenna Miniaturization:</a:t>
            </a:r>
            <a:endParaRPr b="1" dirty="0">
              <a:solidFill>
                <a:schemeClr val="dk1"/>
              </a:solidFill>
            </a:endParaRPr>
          </a:p>
          <a:p>
            <a:pPr marL="285750" lvl="0" indent="-285750" algn="just" rtl="0">
              <a:spcBef>
                <a:spcPts val="0"/>
              </a:spcBef>
              <a:spcAft>
                <a:spcPts val="0"/>
              </a:spcAft>
              <a:buFont typeface="Wingdings" panose="05000000000000000000" pitchFamily="2" charset="2"/>
              <a:buChar char="q"/>
            </a:pPr>
            <a:r>
              <a:rPr lang="en" dirty="0">
                <a:solidFill>
                  <a:schemeClr val="dk1"/>
                </a:solidFill>
              </a:rPr>
              <a:t>Size Constraints: Smaller devices require antenna miniaturization, but traditional methods reduce efficiency and bandwidth.</a:t>
            </a:r>
            <a:endParaRPr dirty="0">
              <a:solidFill>
                <a:schemeClr val="dk1"/>
              </a:solidFill>
            </a:endParaRPr>
          </a:p>
          <a:p>
            <a:pPr marL="285750" lvl="0" indent="-285750" algn="just" rtl="0">
              <a:spcBef>
                <a:spcPts val="0"/>
              </a:spcBef>
              <a:spcAft>
                <a:spcPts val="0"/>
              </a:spcAft>
              <a:buFont typeface="Wingdings" panose="05000000000000000000" pitchFamily="2" charset="2"/>
              <a:buChar char="q"/>
            </a:pPr>
            <a:r>
              <a:rPr lang="en" dirty="0">
                <a:solidFill>
                  <a:schemeClr val="dk1"/>
                </a:solidFill>
              </a:rPr>
              <a:t>Metamaterial Solutions: Metamaterials reduce antenna size by manipulating electromagnetic properties with negative permittivity and permeability, maintaining or enhancing performance.</a:t>
            </a:r>
            <a:endParaRPr dirty="0">
              <a:solidFill>
                <a:schemeClr val="dk1"/>
              </a:solidFill>
            </a:endParaRPr>
          </a:p>
          <a:p>
            <a:pPr marL="285750" lvl="0" indent="-285750" algn="just" rtl="0">
              <a:spcBef>
                <a:spcPts val="0"/>
              </a:spcBef>
              <a:spcAft>
                <a:spcPts val="0"/>
              </a:spcAft>
              <a:buFont typeface="Wingdings" panose="05000000000000000000" pitchFamily="2" charset="2"/>
              <a:buChar char="q"/>
            </a:pPr>
            <a:r>
              <a:rPr lang="en" dirty="0">
                <a:solidFill>
                  <a:schemeClr val="dk1"/>
                </a:solidFill>
              </a:rPr>
              <a:t>Examples: A metamaterial-based inset-fed patch antenna achieved a 74.83% size reduction while maintaining high efficiency and bandwidth, suitable for mobile and wearable devices.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2"/>
          <p:cNvSpPr txBox="1"/>
          <p:nvPr/>
        </p:nvSpPr>
        <p:spPr>
          <a:xfrm>
            <a:off x="214500" y="145875"/>
            <a:ext cx="8464551" cy="48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lang="en" b="1" dirty="0"/>
          </a:p>
          <a:p>
            <a:pPr marL="0" lvl="0" indent="0" algn="l" rtl="0">
              <a:spcBef>
                <a:spcPts val="0"/>
              </a:spcBef>
              <a:spcAft>
                <a:spcPts val="0"/>
              </a:spcAft>
              <a:buClr>
                <a:schemeClr val="dk1"/>
              </a:buClr>
              <a:buSzPts val="1100"/>
              <a:buFont typeface="Arial"/>
              <a:buNone/>
            </a:pPr>
            <a:r>
              <a:rPr lang="en" b="1" dirty="0"/>
              <a:t>Radiation Efficiency Enhancement:</a:t>
            </a:r>
          </a:p>
          <a:p>
            <a:pPr marL="285750" lvl="0" indent="-285750" algn="just" rtl="0">
              <a:spcBef>
                <a:spcPts val="0"/>
              </a:spcBef>
              <a:spcAft>
                <a:spcPts val="0"/>
              </a:spcAft>
              <a:buClr>
                <a:schemeClr val="dk1"/>
              </a:buClr>
              <a:buSzPts val="1100"/>
              <a:buFont typeface="Wingdings" panose="05000000000000000000" pitchFamily="2" charset="2"/>
              <a:buChar char="q"/>
            </a:pPr>
            <a:r>
              <a:rPr lang="en" dirty="0"/>
              <a:t>Importance of Efficiency: High radiation efficiency ensures effective signal transmission in communication systems.</a:t>
            </a:r>
          </a:p>
          <a:p>
            <a:pPr marL="285750" lvl="0" indent="-285750" algn="just" rtl="0">
              <a:spcBef>
                <a:spcPts val="0"/>
              </a:spcBef>
              <a:spcAft>
                <a:spcPts val="0"/>
              </a:spcAft>
              <a:buClr>
                <a:schemeClr val="dk1"/>
              </a:buClr>
              <a:buSzPts val="1100"/>
              <a:buFont typeface="Wingdings" panose="05000000000000000000" pitchFamily="2" charset="2"/>
              <a:buChar char="q"/>
            </a:pPr>
            <a:r>
              <a:rPr lang="en" dirty="0"/>
              <a:t>Metamaterial Benefits: Metamaterials improve radiation efficiency by focusing energy, enhancing impedance matching, and reducing losses.</a:t>
            </a:r>
          </a:p>
          <a:p>
            <a:pPr marL="285750" lvl="0" indent="-285750" algn="just" rtl="0">
              <a:spcBef>
                <a:spcPts val="0"/>
              </a:spcBef>
              <a:spcAft>
                <a:spcPts val="0"/>
              </a:spcAft>
              <a:buClr>
                <a:schemeClr val="dk1"/>
              </a:buClr>
              <a:buSzPts val="1100"/>
              <a:buFont typeface="Wingdings" panose="05000000000000000000" pitchFamily="2" charset="2"/>
              <a:buChar char="q"/>
            </a:pPr>
            <a:r>
              <a:rPr lang="en" dirty="0"/>
              <a:t>Examples: Metamaterial-based antennas show improved radiation efficiency, outperforming traditional designs under various conditions.</a:t>
            </a:r>
            <a:endParaRPr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a:p>
            <a:pPr marL="0" lvl="0" indent="0" algn="l" rtl="0">
              <a:spcBef>
                <a:spcPts val="0"/>
              </a:spcBef>
              <a:spcAft>
                <a:spcPts val="0"/>
              </a:spcAft>
              <a:buNone/>
            </a:pPr>
            <a:r>
              <a:rPr lang="en" b="1" dirty="0"/>
              <a:t>Multifunctional Metasurfaces:</a:t>
            </a:r>
          </a:p>
          <a:p>
            <a:pPr marL="285750" lvl="0" indent="-285750" algn="just" rtl="0">
              <a:spcBef>
                <a:spcPts val="0"/>
              </a:spcBef>
              <a:spcAft>
                <a:spcPts val="0"/>
              </a:spcAft>
              <a:buFont typeface="Wingdings" panose="05000000000000000000" pitchFamily="2" charset="2"/>
              <a:buChar char="q"/>
            </a:pPr>
            <a:r>
              <a:rPr lang="en" dirty="0"/>
              <a:t>Integration and Functionality: Metasurfaces integrate multiple antenna functions into a single design, simplifying structures and enhancing performance for advanced communication systems.</a:t>
            </a:r>
          </a:p>
          <a:p>
            <a:pPr marL="285750" lvl="0" indent="-285750" algn="just" rtl="0">
              <a:spcBef>
                <a:spcPts val="0"/>
              </a:spcBef>
              <a:spcAft>
                <a:spcPts val="0"/>
              </a:spcAft>
              <a:buFont typeface="Wingdings" panose="05000000000000000000" pitchFamily="2" charset="2"/>
              <a:buChar char="q"/>
            </a:pPr>
            <a:r>
              <a:rPr lang="en" dirty="0"/>
              <a:t>Design Flexibility: They enable beam steering, polarization control, and frequency reconfiguration, allowing compact, efficient, and adaptable antennas.</a:t>
            </a:r>
          </a:p>
          <a:p>
            <a:pPr marL="285750" lvl="0" indent="-285750" algn="just" rtl="0">
              <a:spcBef>
                <a:spcPts val="0"/>
              </a:spcBef>
              <a:spcAft>
                <a:spcPts val="0"/>
              </a:spcAft>
              <a:buFont typeface="Wingdings" panose="05000000000000000000" pitchFamily="2" charset="2"/>
              <a:buChar char="q"/>
            </a:pPr>
            <a:r>
              <a:rPr lang="en" dirty="0"/>
              <a:t>Examples: A metasurface design integrating beam steering and polarization control offers dynamic adjustments, enhancing flexibility and performance in communication systems.</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3"/>
          <p:cNvSpPr txBox="1"/>
          <p:nvPr/>
        </p:nvSpPr>
        <p:spPr>
          <a:xfrm>
            <a:off x="334925" y="297550"/>
            <a:ext cx="8701200" cy="467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Challenges:</a:t>
            </a:r>
            <a:endParaRPr/>
          </a:p>
          <a:p>
            <a:pPr marL="0" lvl="0" indent="0" algn="l" rtl="0">
              <a:spcBef>
                <a:spcPts val="0"/>
              </a:spcBef>
              <a:spcAft>
                <a:spcPts val="0"/>
              </a:spcAft>
              <a:buClr>
                <a:schemeClr val="dk1"/>
              </a:buClr>
              <a:buSzPts val="1100"/>
              <a:buFont typeface="Arial"/>
              <a:buNone/>
            </a:pPr>
            <a:r>
              <a:rPr lang="en"/>
              <a:t>  1. Fabrication Complexity: Precise, nanoscale metamaterial fabrication is difficult and costly.</a:t>
            </a:r>
            <a:endParaRPr/>
          </a:p>
          <a:p>
            <a:pPr marL="0" lvl="0" indent="0" algn="l" rtl="0">
              <a:spcBef>
                <a:spcPts val="0"/>
              </a:spcBef>
              <a:spcAft>
                <a:spcPts val="0"/>
              </a:spcAft>
              <a:buClr>
                <a:schemeClr val="dk1"/>
              </a:buClr>
              <a:buSzPts val="1100"/>
              <a:buFont typeface="Arial"/>
              <a:buNone/>
            </a:pPr>
            <a:r>
              <a:rPr lang="en"/>
              <a:t>  2. Cost-Effectiveness: High fabrication costs limit widespread adoption; cost-effective processes are needed.</a:t>
            </a:r>
            <a:endParaRPr/>
          </a:p>
          <a:p>
            <a:pPr marL="0" lvl="0" indent="0" algn="l" rtl="0">
              <a:spcBef>
                <a:spcPts val="0"/>
              </a:spcBef>
              <a:spcAft>
                <a:spcPts val="0"/>
              </a:spcAft>
              <a:buClr>
                <a:schemeClr val="dk1"/>
              </a:buClr>
              <a:buSzPts val="1100"/>
              <a:buFont typeface="Arial"/>
              <a:buNone/>
            </a:pPr>
            <a:r>
              <a:rPr lang="en"/>
              <a:t>  3. Performance Trade-offs: Enhancing gain and bandwidth may affect other metrics like efficiency or isolation.</a:t>
            </a:r>
            <a:endParaRPr/>
          </a:p>
          <a:p>
            <a:pPr marL="0" lvl="0" indent="0" algn="l" rtl="0">
              <a:spcBef>
                <a:spcPts val="0"/>
              </a:spcBef>
              <a:spcAft>
                <a:spcPts val="0"/>
              </a:spcAft>
              <a:buClr>
                <a:schemeClr val="dk1"/>
              </a:buClr>
              <a:buSzPts val="1100"/>
              <a:buFont typeface="Arial"/>
              <a:buNone/>
            </a:pPr>
            <a:r>
              <a:rPr lang="en"/>
              <a:t>  4. Environmental Sensitivity: Metamaterials are sensitive to temperature, humidity, and stress, impacting reliability.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b="1"/>
              <a:t>Future Research Directions:</a:t>
            </a:r>
            <a:endParaRPr b="1"/>
          </a:p>
          <a:p>
            <a:pPr marL="0" lvl="0" indent="0" algn="l" rtl="0">
              <a:spcBef>
                <a:spcPts val="0"/>
              </a:spcBef>
              <a:spcAft>
                <a:spcPts val="0"/>
              </a:spcAft>
              <a:buClr>
                <a:schemeClr val="dk1"/>
              </a:buClr>
              <a:buSzPts val="1100"/>
              <a:buFont typeface="Arial"/>
              <a:buNone/>
            </a:pPr>
            <a:r>
              <a:rPr lang="en"/>
              <a:t>  1. Advanced Fabrication: Develop scalable, cost-effective, precise manufacturing techniques.</a:t>
            </a:r>
            <a:endParaRPr/>
          </a:p>
          <a:p>
            <a:pPr marL="0" lvl="0" indent="0" algn="l" rtl="0">
              <a:spcBef>
                <a:spcPts val="0"/>
              </a:spcBef>
              <a:spcAft>
                <a:spcPts val="0"/>
              </a:spcAft>
              <a:buClr>
                <a:schemeClr val="dk1"/>
              </a:buClr>
              <a:buSzPts val="1100"/>
              <a:buFont typeface="Arial"/>
              <a:buNone/>
            </a:pPr>
            <a:r>
              <a:rPr lang="en"/>
              <a:t>  2. Multifunctional Designs: Create reconfigurable, multifunctional metamaterial-based antennas.</a:t>
            </a:r>
            <a:endParaRPr/>
          </a:p>
          <a:p>
            <a:pPr marL="0" lvl="0" indent="0" algn="l" rtl="0">
              <a:spcBef>
                <a:spcPts val="0"/>
              </a:spcBef>
              <a:spcAft>
                <a:spcPts val="0"/>
              </a:spcAft>
              <a:buClr>
                <a:schemeClr val="dk1"/>
              </a:buClr>
              <a:buSzPts val="1100"/>
              <a:buFont typeface="Arial"/>
              <a:buNone/>
            </a:pPr>
            <a:r>
              <a:rPr lang="en"/>
              <a:t>  3. Performance Optimization: Optimize gain, bandwidth, efficiency, and size through studies.</a:t>
            </a:r>
            <a:endParaRPr/>
          </a:p>
          <a:p>
            <a:pPr marL="0" lvl="0" indent="0" algn="l" rtl="0">
              <a:spcBef>
                <a:spcPts val="0"/>
              </a:spcBef>
              <a:spcAft>
                <a:spcPts val="0"/>
              </a:spcAft>
              <a:buClr>
                <a:schemeClr val="dk1"/>
              </a:buClr>
              <a:buSzPts val="1100"/>
              <a:buFont typeface="Arial"/>
              <a:buNone/>
            </a:pPr>
            <a:r>
              <a:rPr lang="en"/>
              <a:t>  4. Environmental Robustness: Improve stability under varying conditions.</a:t>
            </a:r>
            <a:endParaRPr/>
          </a:p>
          <a:p>
            <a:pPr marL="0" lvl="0" indent="0" algn="l" rtl="0">
              <a:spcBef>
                <a:spcPts val="0"/>
              </a:spcBef>
              <a:spcAft>
                <a:spcPts val="0"/>
              </a:spcAft>
              <a:buClr>
                <a:schemeClr val="dk1"/>
              </a:buClr>
              <a:buSzPts val="1100"/>
              <a:buFont typeface="Arial"/>
              <a:buNone/>
            </a:pPr>
            <a:r>
              <a:rPr lang="en"/>
              <a:t>  5. New Applications: Explore new metamaterial structures and applications for tailored electromagnetic properties.</a:t>
            </a:r>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
        <p:cNvGrpSpPr/>
        <p:nvPr/>
      </p:nvGrpSpPr>
      <p:grpSpPr>
        <a:xfrm>
          <a:off x="0" y="0"/>
          <a:ext cx="0" cy="0"/>
          <a:chOff x="0" y="0"/>
          <a:chExt cx="0" cy="0"/>
        </a:xfrm>
      </p:grpSpPr>
      <p:sp>
        <p:nvSpPr>
          <p:cNvPr id="97" name="Google Shape;97;p24"/>
          <p:cNvSpPr txBox="1"/>
          <p:nvPr/>
        </p:nvSpPr>
        <p:spPr>
          <a:xfrm>
            <a:off x="1589531" y="177940"/>
            <a:ext cx="6321300" cy="570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000"/>
              <a:buFont typeface="Calibri"/>
              <a:buNone/>
            </a:pPr>
            <a:r>
              <a:rPr lang="en" sz="3000" b="0" i="0" u="none" strike="noStrike" cap="none" dirty="0">
                <a:solidFill>
                  <a:schemeClr val="dk1"/>
                </a:solidFill>
                <a:latin typeface="Calibri"/>
                <a:ea typeface="Calibri"/>
                <a:cs typeface="Calibri"/>
                <a:sym typeface="Calibri"/>
              </a:rPr>
              <a:t>CURRENT STATUS AND MOTIVATION</a:t>
            </a:r>
            <a:endParaRPr sz="1100" dirty="0"/>
          </a:p>
          <a:p>
            <a:pPr marL="0" marR="0" lvl="0" indent="0" algn="ctr" rtl="0">
              <a:lnSpc>
                <a:spcPct val="100000"/>
              </a:lnSpc>
              <a:spcBef>
                <a:spcPts val="800"/>
              </a:spcBef>
              <a:spcAft>
                <a:spcPts val="0"/>
              </a:spcAft>
              <a:buClr>
                <a:schemeClr val="dk1"/>
              </a:buClr>
              <a:buSzPts val="1800"/>
              <a:buFont typeface="Calibri"/>
              <a:buNone/>
            </a:pPr>
            <a:endParaRPr sz="1100" dirty="0"/>
          </a:p>
        </p:txBody>
      </p:sp>
      <p:graphicFrame>
        <p:nvGraphicFramePr>
          <p:cNvPr id="99" name="Google Shape;99;p24"/>
          <p:cNvGraphicFramePr/>
          <p:nvPr>
            <p:extLst>
              <p:ext uri="{D42A27DB-BD31-4B8C-83A1-F6EECF244321}">
                <p14:modId xmlns:p14="http://schemas.microsoft.com/office/powerpoint/2010/main" val="117192524"/>
              </p:ext>
            </p:extLst>
          </p:nvPr>
        </p:nvGraphicFramePr>
        <p:xfrm>
          <a:off x="441576" y="1043791"/>
          <a:ext cx="8175480" cy="2423100"/>
        </p:xfrm>
        <a:graphic>
          <a:graphicData uri="http://schemas.openxmlformats.org/drawingml/2006/table">
            <a:tbl>
              <a:tblPr>
                <a:noFill/>
                <a:tableStyleId>{C826BD35-F5B8-42C8-A48C-3B22BDB0D5EC}</a:tableStyleId>
              </a:tblPr>
              <a:tblGrid>
                <a:gridCol w="545598">
                  <a:extLst>
                    <a:ext uri="{9D8B030D-6E8A-4147-A177-3AD203B41FA5}">
                      <a16:colId xmlns:a16="http://schemas.microsoft.com/office/drawing/2014/main" val="20000"/>
                    </a:ext>
                  </a:extLst>
                </a:gridCol>
                <a:gridCol w="2366374">
                  <a:extLst>
                    <a:ext uri="{9D8B030D-6E8A-4147-A177-3AD203B41FA5}">
                      <a16:colId xmlns:a16="http://schemas.microsoft.com/office/drawing/2014/main" val="20001"/>
                    </a:ext>
                  </a:extLst>
                </a:gridCol>
                <a:gridCol w="2141769">
                  <a:extLst>
                    <a:ext uri="{9D8B030D-6E8A-4147-A177-3AD203B41FA5}">
                      <a16:colId xmlns:a16="http://schemas.microsoft.com/office/drawing/2014/main" val="20002"/>
                    </a:ext>
                  </a:extLst>
                </a:gridCol>
                <a:gridCol w="3121739">
                  <a:extLst>
                    <a:ext uri="{9D8B030D-6E8A-4147-A177-3AD203B41FA5}">
                      <a16:colId xmlns:a16="http://schemas.microsoft.com/office/drawing/2014/main" val="20003"/>
                    </a:ext>
                  </a:extLst>
                </a:gridCol>
              </a:tblGrid>
              <a:tr h="343000">
                <a:tc>
                  <a:txBody>
                    <a:bodyPr/>
                    <a:lstStyle/>
                    <a:p>
                      <a:pPr marL="0" lvl="0" indent="0" algn="ctr" rtl="0">
                        <a:spcBef>
                          <a:spcPts val="0"/>
                        </a:spcBef>
                        <a:spcAft>
                          <a:spcPts val="0"/>
                        </a:spcAft>
                        <a:buNone/>
                      </a:pPr>
                      <a:r>
                        <a:rPr lang="en" b="1" dirty="0"/>
                        <a:t>Ref</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Title, journal, name, YoP</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Summary of paper</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Remarks</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53475">
                <a:tc>
                  <a:txBody>
                    <a:bodyPr/>
                    <a:lstStyle/>
                    <a:p>
                      <a:pPr marL="0" lvl="0" indent="0" algn="ctr" rtl="0">
                        <a:spcBef>
                          <a:spcPts val="0"/>
                        </a:spcBef>
                        <a:spcAft>
                          <a:spcPts val="0"/>
                        </a:spcAft>
                        <a:buSzPts val="1000"/>
                        <a:buNone/>
                      </a:pPr>
                      <a:r>
                        <a:rPr lang="en-US" sz="1100" dirty="0"/>
                        <a:t>[1]</a:t>
                      </a:r>
                      <a:endParaRPr sz="11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100" dirty="0">
                          <a:solidFill>
                            <a:srgbClr val="1C1D1E"/>
                          </a:solidFill>
                        </a:rPr>
                        <a:t>Syed WH, Neto A. Front-to-back ratio enhancement of planar printed antennas by means of artificial dielectric layers. </a:t>
                      </a:r>
                      <a:r>
                        <a:rPr lang="en" sz="1100" i="1" dirty="0">
                          <a:solidFill>
                            <a:srgbClr val="1C1D1E"/>
                          </a:solidFill>
                        </a:rPr>
                        <a:t>IEEE Trans Antennas Propag.</a:t>
                      </a:r>
                      <a:r>
                        <a:rPr lang="en" sz="1100" dirty="0">
                          <a:solidFill>
                            <a:srgbClr val="1C1D1E"/>
                          </a:solidFill>
                        </a:rPr>
                        <a:t> 2013; 61: 5408–5416.</a:t>
                      </a:r>
                      <a:endParaRPr sz="11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just" rtl="0">
                        <a:spcBef>
                          <a:spcPts val="0"/>
                        </a:spcBef>
                        <a:spcAft>
                          <a:spcPts val="0"/>
                        </a:spcAft>
                        <a:buNone/>
                      </a:pPr>
                      <a:r>
                        <a:rPr lang="en" sz="1100" dirty="0"/>
                        <a:t>The paper by Syed W.H. and Neto A. presents a technique to improve the front-to-back ratio of planar printed antennas using artificial dielectric layers. This method reduces unwanted backward radiation, enhancing antenna performance in directional applications.</a:t>
                      </a:r>
                      <a:endParaRPr sz="11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Clr>
                          <a:schemeClr val="dk1"/>
                        </a:buClr>
                        <a:buSzPts val="1100"/>
                        <a:buFont typeface="Arial"/>
                        <a:buNone/>
                      </a:pPr>
                      <a:r>
                        <a:rPr lang="en" sz="1100" dirty="0"/>
                        <a:t>- Objective: Enhance the front-to-back ratio of planar printed antennas.</a:t>
                      </a:r>
                      <a:endParaRPr sz="1100" dirty="0"/>
                    </a:p>
                    <a:p>
                      <a:pPr marL="0" lvl="0" indent="0" algn="l" rtl="0">
                        <a:spcBef>
                          <a:spcPts val="0"/>
                        </a:spcBef>
                        <a:spcAft>
                          <a:spcPts val="0"/>
                        </a:spcAft>
                        <a:buClr>
                          <a:schemeClr val="dk1"/>
                        </a:buClr>
                        <a:buSzPts val="1100"/>
                        <a:buFont typeface="Arial"/>
                        <a:buNone/>
                      </a:pPr>
                      <a:r>
                        <a:rPr lang="en" sz="1100" dirty="0"/>
                        <a:t>- Methodology: Use of artificial dielectric layers to reduce backward radiation.</a:t>
                      </a:r>
                      <a:endParaRPr sz="1100" dirty="0"/>
                    </a:p>
                    <a:p>
                      <a:pPr marL="0" lvl="0" indent="0" algn="l" rtl="0">
                        <a:spcBef>
                          <a:spcPts val="0"/>
                        </a:spcBef>
                        <a:spcAft>
                          <a:spcPts val="0"/>
                        </a:spcAft>
                        <a:buClr>
                          <a:schemeClr val="dk1"/>
                        </a:buClr>
                        <a:buSzPts val="1100"/>
                        <a:buFont typeface="Arial"/>
                        <a:buNone/>
                      </a:pPr>
                      <a:r>
                        <a:rPr lang="en" sz="1100" dirty="0"/>
                        <a:t>- Key Contribution: Proposed a novel technique for directional radiation enhancement.</a:t>
                      </a:r>
                      <a:endParaRPr sz="1100" dirty="0"/>
                    </a:p>
                    <a:p>
                      <a:pPr marL="0" lvl="0" indent="0" algn="l" rtl="0">
                        <a:spcBef>
                          <a:spcPts val="0"/>
                        </a:spcBef>
                        <a:spcAft>
                          <a:spcPts val="0"/>
                        </a:spcAft>
                        <a:buClr>
                          <a:schemeClr val="dk1"/>
                        </a:buClr>
                        <a:buSzPts val="1100"/>
                        <a:buFont typeface="Arial"/>
                        <a:buNone/>
                      </a:pPr>
                      <a:r>
                        <a:rPr lang="en" sz="1100" dirty="0"/>
                        <a:t>- Validation: Demonstrated through simulations and experiments.</a:t>
                      </a:r>
                      <a:endParaRPr sz="1100" dirty="0"/>
                    </a:p>
                    <a:p>
                      <a:pPr marL="0" lvl="0" indent="0" algn="l" rtl="0">
                        <a:spcBef>
                          <a:spcPts val="0"/>
                        </a:spcBef>
                        <a:spcAft>
                          <a:spcPts val="0"/>
                        </a:spcAft>
                        <a:buClr>
                          <a:schemeClr val="dk1"/>
                        </a:buClr>
                        <a:buSzPts val="1100"/>
                        <a:buFont typeface="Arial"/>
                        <a:buNone/>
                      </a:pPr>
                      <a:r>
                        <a:rPr lang="en" sz="1100" dirty="0"/>
                        <a:t>- Significance: Improves antenna performance for applications requiring high directivity.</a:t>
                      </a:r>
                      <a:endParaRPr sz="1100" dirty="0"/>
                    </a:p>
                    <a:p>
                      <a:pPr marL="0" lvl="0" indent="0" algn="l" rtl="0">
                        <a:spcBef>
                          <a:spcPts val="0"/>
                        </a:spcBef>
                        <a:spcAft>
                          <a:spcPts val="0"/>
                        </a:spcAft>
                        <a:buNone/>
                      </a:pPr>
                      <a:endParaRPr sz="11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4"/>
          <p:cNvSpPr txBox="1"/>
          <p:nvPr/>
        </p:nvSpPr>
        <p:spPr>
          <a:xfrm>
            <a:off x="1411301" y="108198"/>
            <a:ext cx="6321300" cy="570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000"/>
              <a:buFont typeface="Calibri"/>
              <a:buNone/>
            </a:pPr>
            <a:r>
              <a:rPr lang="en" sz="3000" b="0" i="0" u="none" strike="noStrike" cap="none">
                <a:solidFill>
                  <a:schemeClr val="dk1"/>
                </a:solidFill>
                <a:latin typeface="Calibri"/>
                <a:ea typeface="Calibri"/>
                <a:cs typeface="Calibri"/>
                <a:sym typeface="Calibri"/>
              </a:rPr>
              <a:t>CURRENT STATUS AND MOTIVATION</a:t>
            </a:r>
            <a:endParaRPr sz="1100"/>
          </a:p>
          <a:p>
            <a:pPr marL="0" marR="0" lvl="0" indent="0" algn="ctr" rtl="0">
              <a:lnSpc>
                <a:spcPct val="100000"/>
              </a:lnSpc>
              <a:spcBef>
                <a:spcPts val="800"/>
              </a:spcBef>
              <a:spcAft>
                <a:spcPts val="0"/>
              </a:spcAft>
              <a:buClr>
                <a:schemeClr val="dk1"/>
              </a:buClr>
              <a:buSzPts val="1800"/>
              <a:buFont typeface="Calibri"/>
              <a:buNone/>
            </a:pPr>
            <a:endParaRPr sz="1100"/>
          </a:p>
        </p:txBody>
      </p:sp>
      <p:graphicFrame>
        <p:nvGraphicFramePr>
          <p:cNvPr id="99" name="Google Shape;99;p24"/>
          <p:cNvGraphicFramePr/>
          <p:nvPr>
            <p:extLst>
              <p:ext uri="{D42A27DB-BD31-4B8C-83A1-F6EECF244321}">
                <p14:modId xmlns:p14="http://schemas.microsoft.com/office/powerpoint/2010/main" val="4171782324"/>
              </p:ext>
            </p:extLst>
          </p:nvPr>
        </p:nvGraphicFramePr>
        <p:xfrm>
          <a:off x="433828" y="866758"/>
          <a:ext cx="7897800" cy="2407860"/>
        </p:xfrm>
        <a:graphic>
          <a:graphicData uri="http://schemas.openxmlformats.org/drawingml/2006/table">
            <a:tbl>
              <a:tblPr>
                <a:noFill/>
                <a:tableStyleId>{C826BD35-F5B8-42C8-A48C-3B22BDB0D5EC}</a:tableStyleId>
              </a:tblPr>
              <a:tblGrid>
                <a:gridCol w="801015">
                  <a:extLst>
                    <a:ext uri="{9D8B030D-6E8A-4147-A177-3AD203B41FA5}">
                      <a16:colId xmlns:a16="http://schemas.microsoft.com/office/drawing/2014/main" val="20000"/>
                    </a:ext>
                  </a:extLst>
                </a:gridCol>
                <a:gridCol w="2477001">
                  <a:extLst>
                    <a:ext uri="{9D8B030D-6E8A-4147-A177-3AD203B41FA5}">
                      <a16:colId xmlns:a16="http://schemas.microsoft.com/office/drawing/2014/main" val="20001"/>
                    </a:ext>
                  </a:extLst>
                </a:gridCol>
                <a:gridCol w="2433234">
                  <a:extLst>
                    <a:ext uri="{9D8B030D-6E8A-4147-A177-3AD203B41FA5}">
                      <a16:colId xmlns:a16="http://schemas.microsoft.com/office/drawing/2014/main" val="20002"/>
                    </a:ext>
                  </a:extLst>
                </a:gridCol>
                <a:gridCol w="2186550">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n" b="1" dirty="0"/>
                        <a:t>Ref</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a:t>Title, journal, name, YoP</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a:t>Summary of paper</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Remarks</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49075">
                <a:tc>
                  <a:txBody>
                    <a:bodyPr/>
                    <a:lstStyle/>
                    <a:p>
                      <a:pPr marL="0" lvl="0" indent="0" algn="l" rtl="0">
                        <a:spcBef>
                          <a:spcPts val="0"/>
                        </a:spcBef>
                        <a:spcAft>
                          <a:spcPts val="0"/>
                        </a:spcAft>
                        <a:buNone/>
                      </a:pPr>
                      <a:r>
                        <a:rPr lang="en" sz="1000" dirty="0"/>
                        <a:t>  [2]</a:t>
                      </a: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000" dirty="0">
                          <a:solidFill>
                            <a:srgbClr val="1C1D1E"/>
                          </a:solidFill>
                        </a:rPr>
                        <a:t>11 Hou QW, Su YY, Zhao XP. A high gain patch antenna based PN zero permeability metamaterial. </a:t>
                      </a:r>
                      <a:r>
                        <a:rPr lang="en" sz="1000" i="1" dirty="0">
                          <a:solidFill>
                            <a:srgbClr val="1C1D1E"/>
                          </a:solidFill>
                        </a:rPr>
                        <a:t>Microwave Opt Technol Lett.</a:t>
                      </a:r>
                      <a:r>
                        <a:rPr lang="en" sz="1000" dirty="0">
                          <a:solidFill>
                            <a:srgbClr val="1C1D1E"/>
                          </a:solidFill>
                        </a:rPr>
                        <a:t> 2014; 56: 1065–1069.</a:t>
                      </a: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just" rtl="0">
                        <a:spcBef>
                          <a:spcPts val="0"/>
                        </a:spcBef>
                        <a:spcAft>
                          <a:spcPts val="0"/>
                        </a:spcAft>
                        <a:buNone/>
                      </a:pPr>
                      <a:r>
                        <a:rPr lang="en" sz="1000" dirty="0"/>
                        <a:t>Hou Q.W. et al. propose a high-gain patch antenna design using a PN zero permeability metamaterial. The metamaterial enhances the antenna's gain by focusing the radiation in the desired direction.</a:t>
                      </a: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Clr>
                          <a:schemeClr val="dk1"/>
                        </a:buClr>
                        <a:buSzPts val="1100"/>
                        <a:buFont typeface="Arial"/>
                        <a:buNone/>
                      </a:pPr>
                      <a:r>
                        <a:rPr lang="en" sz="1000" dirty="0">
                          <a:solidFill>
                            <a:schemeClr val="dk1"/>
                          </a:solidFill>
                        </a:rPr>
                        <a:t>-Objective: Increase patch antenna gain.</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-Methodology: Use of PN zero permeability metamaterial.</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-Key Contribution: Achieved high gain through focused radiation.</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-Validation: Demonstrated through simulations.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-Significance: Improves antenna performance in gain-critical applications.</a:t>
                      </a:r>
                      <a:endParaRPr sz="1000" dirty="0">
                        <a:solidFill>
                          <a:schemeClr val="dk1"/>
                        </a:solidFill>
                      </a:endParaRPr>
                    </a:p>
                    <a:p>
                      <a:pPr marL="0" lvl="0" indent="0" algn="l" rtl="0">
                        <a:spcBef>
                          <a:spcPts val="0"/>
                        </a:spcBef>
                        <a:spcAft>
                          <a:spcPts val="0"/>
                        </a:spcAft>
                        <a:buNone/>
                      </a:pP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59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4"/>
          <p:cNvSpPr txBox="1"/>
          <p:nvPr/>
        </p:nvSpPr>
        <p:spPr>
          <a:xfrm>
            <a:off x="1411301" y="108198"/>
            <a:ext cx="6321300" cy="570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000"/>
              <a:buFont typeface="Calibri"/>
              <a:buNone/>
            </a:pPr>
            <a:r>
              <a:rPr lang="en" sz="3000" b="0" i="0" u="none" strike="noStrike" cap="none" dirty="0">
                <a:solidFill>
                  <a:schemeClr val="dk1"/>
                </a:solidFill>
                <a:latin typeface="Calibri"/>
                <a:ea typeface="Calibri"/>
                <a:cs typeface="Calibri"/>
                <a:sym typeface="Calibri"/>
              </a:rPr>
              <a:t>CURRENT STATUS AND MOTIVATION</a:t>
            </a:r>
            <a:endParaRPr sz="1100" dirty="0"/>
          </a:p>
          <a:p>
            <a:pPr marL="0" marR="0" lvl="0" indent="0" algn="ctr" rtl="0">
              <a:lnSpc>
                <a:spcPct val="100000"/>
              </a:lnSpc>
              <a:spcBef>
                <a:spcPts val="800"/>
              </a:spcBef>
              <a:spcAft>
                <a:spcPts val="0"/>
              </a:spcAft>
              <a:buClr>
                <a:schemeClr val="dk1"/>
              </a:buClr>
              <a:buSzPts val="1800"/>
              <a:buFont typeface="Calibri"/>
              <a:buNone/>
            </a:pPr>
            <a:endParaRPr sz="1100" dirty="0"/>
          </a:p>
        </p:txBody>
      </p:sp>
      <p:graphicFrame>
        <p:nvGraphicFramePr>
          <p:cNvPr id="99" name="Google Shape;99;p24"/>
          <p:cNvGraphicFramePr/>
          <p:nvPr>
            <p:extLst>
              <p:ext uri="{D42A27DB-BD31-4B8C-83A1-F6EECF244321}">
                <p14:modId xmlns:p14="http://schemas.microsoft.com/office/powerpoint/2010/main" val="1540133305"/>
              </p:ext>
            </p:extLst>
          </p:nvPr>
        </p:nvGraphicFramePr>
        <p:xfrm>
          <a:off x="480323" y="1097253"/>
          <a:ext cx="7897800" cy="2255460"/>
        </p:xfrm>
        <a:graphic>
          <a:graphicData uri="http://schemas.openxmlformats.org/drawingml/2006/table">
            <a:tbl>
              <a:tblPr>
                <a:noFill/>
                <a:tableStyleId>{C826BD35-F5B8-42C8-A48C-3B22BDB0D5EC}</a:tableStyleId>
              </a:tblPr>
              <a:tblGrid>
                <a:gridCol w="604558">
                  <a:extLst>
                    <a:ext uri="{9D8B030D-6E8A-4147-A177-3AD203B41FA5}">
                      <a16:colId xmlns:a16="http://schemas.microsoft.com/office/drawing/2014/main" val="20000"/>
                    </a:ext>
                  </a:extLst>
                </a:gridCol>
                <a:gridCol w="2409987">
                  <a:extLst>
                    <a:ext uri="{9D8B030D-6E8A-4147-A177-3AD203B41FA5}">
                      <a16:colId xmlns:a16="http://schemas.microsoft.com/office/drawing/2014/main" val="20001"/>
                    </a:ext>
                  </a:extLst>
                </a:gridCol>
                <a:gridCol w="2433234">
                  <a:extLst>
                    <a:ext uri="{9D8B030D-6E8A-4147-A177-3AD203B41FA5}">
                      <a16:colId xmlns:a16="http://schemas.microsoft.com/office/drawing/2014/main" val="20002"/>
                    </a:ext>
                  </a:extLst>
                </a:gridCol>
                <a:gridCol w="2450021">
                  <a:extLst>
                    <a:ext uri="{9D8B030D-6E8A-4147-A177-3AD203B41FA5}">
                      <a16:colId xmlns:a16="http://schemas.microsoft.com/office/drawing/2014/main" val="20003"/>
                    </a:ext>
                  </a:extLst>
                </a:gridCol>
              </a:tblGrid>
              <a:tr h="343000">
                <a:tc>
                  <a:txBody>
                    <a:bodyPr/>
                    <a:lstStyle/>
                    <a:p>
                      <a:pPr marL="0" lvl="0" indent="0" algn="ctr" rtl="0">
                        <a:spcBef>
                          <a:spcPts val="0"/>
                        </a:spcBef>
                        <a:spcAft>
                          <a:spcPts val="0"/>
                        </a:spcAft>
                        <a:buNone/>
                      </a:pPr>
                      <a:r>
                        <a:rPr lang="en" b="1" dirty="0"/>
                        <a:t>Ref</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Title, journal, name, YoP</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Summary of paper</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a:t>Remarks</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246850">
                <a:tc>
                  <a:txBody>
                    <a:bodyPr/>
                    <a:lstStyle/>
                    <a:p>
                      <a:pPr marL="0" lvl="0" indent="0" algn="l" rtl="0">
                        <a:spcBef>
                          <a:spcPts val="0"/>
                        </a:spcBef>
                        <a:spcAft>
                          <a:spcPts val="0"/>
                        </a:spcAft>
                        <a:buNone/>
                      </a:pPr>
                      <a:r>
                        <a:rPr lang="en" sz="1000" dirty="0"/>
                        <a:t>  [3]</a:t>
                      </a: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000" dirty="0">
                          <a:solidFill>
                            <a:srgbClr val="1C1D1E"/>
                          </a:solidFill>
                        </a:rPr>
                        <a:t>Bouzouad M, Chaker SM, Bensafielddine D, Laamari EM. Gain enhancement with near-zero-index metamaterial superstrate. </a:t>
                      </a:r>
                      <a:r>
                        <a:rPr lang="en" sz="1000" i="1" dirty="0">
                          <a:solidFill>
                            <a:srgbClr val="1C1D1E"/>
                          </a:solidFill>
                        </a:rPr>
                        <a:t>Appl Phys A.</a:t>
                      </a:r>
                      <a:r>
                        <a:rPr lang="en" sz="1000" dirty="0">
                          <a:solidFill>
                            <a:srgbClr val="1C1D1E"/>
                          </a:solidFill>
                        </a:rPr>
                        <a:t> 2015; 121: 1075–1080.</a:t>
                      </a:r>
                      <a:endParaRPr sz="1000" dirty="0">
                        <a:solidFill>
                          <a:srgbClr val="1C1D1E"/>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just" rtl="0">
                        <a:spcBef>
                          <a:spcPts val="0"/>
                        </a:spcBef>
                        <a:spcAft>
                          <a:spcPts val="0"/>
                        </a:spcAft>
                        <a:buNone/>
                      </a:pPr>
                      <a:r>
                        <a:rPr lang="en" sz="1000" dirty="0"/>
                        <a:t> Bouzouad et al. present a method to enhance antenna gain using a near-zero-index metamaterial superstrate. The superstrate improves radiation efficiency and gain by controlling wave propagation.</a:t>
                      </a: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Clr>
                          <a:schemeClr val="dk1"/>
                        </a:buClr>
                        <a:buSzPts val="1100"/>
                        <a:buFont typeface="Arial"/>
                        <a:buNone/>
                      </a:pPr>
                      <a:r>
                        <a:rPr lang="en" sz="1000" dirty="0">
                          <a:solidFill>
                            <a:schemeClr val="dk1"/>
                          </a:solidFill>
                        </a:rPr>
                        <a:t>-Objective: Enhance antenna gain.</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-Methodology: Use of near-zero-index metamaterial superstrate.</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-Key Contribution: Improved gain through wave propagation control.</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-Validation: Supported by experimental results.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-Significance: Increases radiation efficiency and overall antenna performance.</a:t>
                      </a:r>
                      <a:endParaRPr sz="1000" dirty="0">
                        <a:solidFill>
                          <a:schemeClr val="dk1"/>
                        </a:solidFill>
                      </a:endParaRPr>
                    </a:p>
                    <a:p>
                      <a:pPr marL="0" lvl="0" indent="0" algn="l" rtl="0">
                        <a:spcBef>
                          <a:spcPts val="0"/>
                        </a:spcBef>
                        <a:spcAft>
                          <a:spcPts val="0"/>
                        </a:spcAft>
                        <a:buNone/>
                      </a:pPr>
                      <a:endParaRPr sz="10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12842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aphicFrame>
        <p:nvGraphicFramePr>
          <p:cNvPr id="104" name="Google Shape;104;p25"/>
          <p:cNvGraphicFramePr/>
          <p:nvPr>
            <p:extLst>
              <p:ext uri="{D42A27DB-BD31-4B8C-83A1-F6EECF244321}">
                <p14:modId xmlns:p14="http://schemas.microsoft.com/office/powerpoint/2010/main" val="3875079689"/>
              </p:ext>
            </p:extLst>
          </p:nvPr>
        </p:nvGraphicFramePr>
        <p:xfrm>
          <a:off x="635350" y="384325"/>
          <a:ext cx="8245700" cy="4099470"/>
        </p:xfrm>
        <a:graphic>
          <a:graphicData uri="http://schemas.openxmlformats.org/drawingml/2006/table">
            <a:tbl>
              <a:tblPr>
                <a:noFill/>
                <a:tableStyleId>{C826BD35-F5B8-42C8-A48C-3B22BDB0D5EC}</a:tableStyleId>
              </a:tblPr>
              <a:tblGrid>
                <a:gridCol w="503200">
                  <a:extLst>
                    <a:ext uri="{9D8B030D-6E8A-4147-A177-3AD203B41FA5}">
                      <a16:colId xmlns:a16="http://schemas.microsoft.com/office/drawing/2014/main" val="20000"/>
                    </a:ext>
                  </a:extLst>
                </a:gridCol>
                <a:gridCol w="2511301">
                  <a:extLst>
                    <a:ext uri="{9D8B030D-6E8A-4147-A177-3AD203B41FA5}">
                      <a16:colId xmlns:a16="http://schemas.microsoft.com/office/drawing/2014/main" val="20001"/>
                    </a:ext>
                  </a:extLst>
                </a:gridCol>
                <a:gridCol w="1960535">
                  <a:extLst>
                    <a:ext uri="{9D8B030D-6E8A-4147-A177-3AD203B41FA5}">
                      <a16:colId xmlns:a16="http://schemas.microsoft.com/office/drawing/2014/main" val="20002"/>
                    </a:ext>
                  </a:extLst>
                </a:gridCol>
                <a:gridCol w="3270664">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n" b="1" dirty="0"/>
                        <a:t>Ref</a:t>
                      </a:r>
                      <a:endParaRPr b="1" dirty="0"/>
                    </a:p>
                  </a:txBody>
                  <a:tcPr marL="91425" marR="91425" marT="91425" marB="91425"/>
                </a:tc>
                <a:tc>
                  <a:txBody>
                    <a:bodyPr/>
                    <a:lstStyle/>
                    <a:p>
                      <a:pPr marL="0" lvl="0" indent="0" algn="ctr" rtl="0">
                        <a:spcBef>
                          <a:spcPts val="0"/>
                        </a:spcBef>
                        <a:spcAft>
                          <a:spcPts val="0"/>
                        </a:spcAft>
                        <a:buNone/>
                      </a:pPr>
                      <a:r>
                        <a:rPr lang="en" b="1" dirty="0"/>
                        <a:t>Title, journal, name, YoP</a:t>
                      </a:r>
                      <a:endParaRPr b="1" dirty="0"/>
                    </a:p>
                  </a:txBody>
                  <a:tcPr marL="91425" marR="91425" marT="91425" marB="91425"/>
                </a:tc>
                <a:tc>
                  <a:txBody>
                    <a:bodyPr/>
                    <a:lstStyle/>
                    <a:p>
                      <a:pPr marL="0" lvl="0" indent="0" algn="ctr" rtl="0">
                        <a:spcBef>
                          <a:spcPts val="0"/>
                        </a:spcBef>
                        <a:spcAft>
                          <a:spcPts val="0"/>
                        </a:spcAft>
                        <a:buNone/>
                      </a:pPr>
                      <a:r>
                        <a:rPr lang="en" b="1" dirty="0"/>
                        <a:t>Summary of paper</a:t>
                      </a:r>
                      <a:endParaRPr b="1" dirty="0"/>
                    </a:p>
                  </a:txBody>
                  <a:tcPr marL="91425" marR="91425" marT="91425" marB="91425"/>
                </a:tc>
                <a:tc>
                  <a:txBody>
                    <a:bodyPr/>
                    <a:lstStyle/>
                    <a:p>
                      <a:pPr marL="0" lvl="0" indent="0" algn="ctr" rtl="0">
                        <a:spcBef>
                          <a:spcPts val="0"/>
                        </a:spcBef>
                        <a:spcAft>
                          <a:spcPts val="0"/>
                        </a:spcAft>
                        <a:buNone/>
                      </a:pPr>
                      <a:r>
                        <a:rPr lang="en" b="1" dirty="0"/>
                        <a:t>Remarks</a:t>
                      </a:r>
                      <a:endParaRPr b="1" dirty="0"/>
                    </a:p>
                  </a:txBody>
                  <a:tcPr marL="91425" marR="91425" marT="91425" marB="91425"/>
                </a:tc>
                <a:extLst>
                  <a:ext uri="{0D108BD9-81ED-4DB2-BD59-A6C34878D82A}">
                    <a16:rowId xmlns:a16="http://schemas.microsoft.com/office/drawing/2014/main" val="772817066"/>
                  </a:ext>
                </a:extLst>
              </a:tr>
              <a:tr h="381000">
                <a:tc>
                  <a:txBody>
                    <a:bodyPr/>
                    <a:lstStyle/>
                    <a:p>
                      <a:pPr marL="0" lvl="0" indent="0" algn="l" rtl="0">
                        <a:spcBef>
                          <a:spcPts val="0"/>
                        </a:spcBef>
                        <a:spcAft>
                          <a:spcPts val="0"/>
                        </a:spcAft>
                        <a:buNone/>
                      </a:pPr>
                      <a:r>
                        <a:rPr lang="en" sz="1000" dirty="0"/>
                        <a:t>[4]</a:t>
                      </a:r>
                      <a:endParaRPr sz="1000" dirty="0"/>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K. Ramasamy, B. Sapna, M. Jayasheela</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A novel wearable monopole antenna with controlled SAR using metamaterial</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Int. J. Microw. Wirel. Technol. (2023), pp. 1-13</a:t>
                      </a:r>
                      <a:endParaRPr sz="1000" dirty="0">
                        <a:solidFill>
                          <a:schemeClr val="dk1"/>
                        </a:solidFill>
                      </a:endParaRPr>
                    </a:p>
                    <a:p>
                      <a:pPr marL="0" lvl="0" indent="0" algn="l" rtl="0">
                        <a:spcBef>
                          <a:spcPts val="0"/>
                        </a:spcBef>
                        <a:spcAft>
                          <a:spcPts val="0"/>
                        </a:spcAft>
                        <a:buClr>
                          <a:schemeClr val="dk1"/>
                        </a:buClr>
                        <a:buSzPts val="1100"/>
                        <a:buFont typeface="Arial"/>
                        <a:buNone/>
                      </a:pPr>
                      <a:endParaRPr sz="1000" dirty="0">
                        <a:solidFill>
                          <a:schemeClr val="dk1"/>
                        </a:solidFill>
                      </a:endParaRPr>
                    </a:p>
                    <a:p>
                      <a:pPr marL="0" lvl="0" indent="0" algn="l" rtl="0">
                        <a:spcBef>
                          <a:spcPts val="0"/>
                        </a:spcBef>
                        <a:spcAft>
                          <a:spcPts val="0"/>
                        </a:spcAft>
                        <a:buNone/>
                      </a:pPr>
                      <a:endParaRPr sz="1000" dirty="0">
                        <a:solidFill>
                          <a:schemeClr val="dk1"/>
                        </a:solidFill>
                      </a:endParaRPr>
                    </a:p>
                  </a:txBody>
                  <a:tcPr marL="91425" marR="91425" marT="91425" marB="91425"/>
                </a:tc>
                <a:tc>
                  <a:txBody>
                    <a:bodyPr/>
                    <a:lstStyle/>
                    <a:p>
                      <a:pPr marL="0" lvl="0" indent="0" algn="just" rtl="0">
                        <a:spcBef>
                          <a:spcPts val="0"/>
                        </a:spcBef>
                        <a:spcAft>
                          <a:spcPts val="0"/>
                        </a:spcAft>
                        <a:buNone/>
                      </a:pPr>
                      <a:r>
                        <a:rPr lang="en" sz="1000"/>
                        <a:t>Ramasamy et al. propose a wearable monopole antenna with reduced SAR using metamaterial structures. The metamaterial helps control electromagnetic exposure while maintaining antenna performance.</a:t>
                      </a:r>
                      <a:endParaRPr sz="10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dirty="0">
                          <a:solidFill>
                            <a:schemeClr val="dk1"/>
                          </a:solidFill>
                        </a:rPr>
                        <a:t>-Objective: Design a wearable antenna with controlled SAR.</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-Methodology: Use of metamaterial to reduce SAR levels.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-Key Contribution: Achieved reduced electromagnetic exposure in wearable devices.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-Validation: Results validated through simulations.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-Significance: Enhances safety and performance of wearable antennas.</a:t>
                      </a:r>
                      <a:endParaRPr sz="1000" dirty="0">
                        <a:solidFill>
                          <a:schemeClr val="dk1"/>
                        </a:solidFill>
                      </a:endParaRPr>
                    </a:p>
                    <a:p>
                      <a:pPr marL="0" lvl="0" indent="0" algn="l" rtl="0">
                        <a:spcBef>
                          <a:spcPts val="0"/>
                        </a:spcBef>
                        <a:spcAft>
                          <a:spcPts val="0"/>
                        </a:spcAft>
                        <a:buNone/>
                      </a:pPr>
                      <a:endParaRPr sz="1000"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000" dirty="0"/>
                        <a:t>[5]</a:t>
                      </a:r>
                      <a:endParaRPr sz="1000"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rPr>
                        <a:t>M. Berka, U. Özkaya, T. Islam, M. El Ghzaoui, S. Varakumari, S. Das, Z. Mahdjoub</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A miniaturized folded square split ring resonator cell based dual band polarization insensitive metamaterial absorber for C- and Ku-band applications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Opt. Quant. Electron., 55 (8) (2023), p. 699</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None/>
                      </a:pPr>
                      <a:endParaRPr sz="1000">
                        <a:solidFill>
                          <a:schemeClr val="dk1"/>
                        </a:solidFill>
                      </a:endParaRPr>
                    </a:p>
                  </a:txBody>
                  <a:tcPr marL="91425" marR="91425" marT="91425" marB="91425"/>
                </a:tc>
                <a:tc>
                  <a:txBody>
                    <a:bodyPr/>
                    <a:lstStyle/>
                    <a:p>
                      <a:pPr marL="0" lvl="0" indent="0" algn="just" rtl="0">
                        <a:spcBef>
                          <a:spcPts val="0"/>
                        </a:spcBef>
                        <a:spcAft>
                          <a:spcPts val="0"/>
                        </a:spcAft>
                        <a:buNone/>
                      </a:pPr>
                      <a:r>
                        <a:rPr lang="en" sz="1000" dirty="0"/>
                        <a:t>Berka et al. introduce a miniaturized dual-band metamaterial absorber using folded square split ring resonator cells. The absorber is polarization-insensitive and designed for C- and Ku-band applications.</a:t>
                      </a:r>
                      <a:endParaRPr sz="1000"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dirty="0">
                          <a:solidFill>
                            <a:schemeClr val="dk1"/>
                          </a:solidFill>
                        </a:rPr>
                        <a:t>-Objective: Develop a dual-band metamaterial absorber.</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-Methodology: Use of miniaturized folded square split ring resonator cells.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-Key Contribution: Polarization-insensitive absorber for C- and Ku-band.</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-Validation: Demonstrated through simulations.</a:t>
                      </a:r>
                      <a:endParaRPr sz="1000" dirty="0">
                        <a:solidFill>
                          <a:schemeClr val="dk1"/>
                        </a:solidFill>
                      </a:endParaRPr>
                    </a:p>
                    <a:p>
                      <a:pPr marL="0" lvl="0" indent="0" algn="l" rtl="0">
                        <a:spcBef>
                          <a:spcPts val="0"/>
                        </a:spcBef>
                        <a:spcAft>
                          <a:spcPts val="0"/>
                        </a:spcAft>
                        <a:buClr>
                          <a:schemeClr val="dk1"/>
                        </a:buClr>
                        <a:buSzPts val="1100"/>
                        <a:buFont typeface="Arial"/>
                        <a:buNone/>
                      </a:pPr>
                      <a:r>
                        <a:rPr lang="en" sz="1000" dirty="0">
                          <a:solidFill>
                            <a:schemeClr val="dk1"/>
                          </a:solidFill>
                        </a:rPr>
                        <a:t>-Significance: Enhances performance for C- and Ku-band applications.</a:t>
                      </a:r>
                      <a:endParaRPr sz="1000" dirty="0">
                        <a:solidFill>
                          <a:schemeClr val="dk1"/>
                        </a:solidFill>
                      </a:endParaRPr>
                    </a:p>
                    <a:p>
                      <a:pPr marL="0" lvl="0" indent="0" algn="l" rtl="0">
                        <a:spcBef>
                          <a:spcPts val="0"/>
                        </a:spcBef>
                        <a:spcAft>
                          <a:spcPts val="0"/>
                        </a:spcAft>
                        <a:buNone/>
                      </a:pPr>
                      <a:endParaRPr sz="10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sp>
        <p:nvSpPr>
          <p:cNvPr id="109" name="Google Shape;109;p26"/>
          <p:cNvSpPr txBox="1"/>
          <p:nvPr/>
        </p:nvSpPr>
        <p:spPr>
          <a:xfrm>
            <a:off x="1541576" y="298456"/>
            <a:ext cx="6315952" cy="56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300"/>
              <a:buFont typeface="Calibri"/>
              <a:buNone/>
            </a:pPr>
            <a:r>
              <a:rPr lang="en" sz="3300" b="1" i="0" u="none" strike="noStrike" cap="none" dirty="0">
                <a:solidFill>
                  <a:schemeClr val="dk1"/>
                </a:solidFill>
                <a:latin typeface="Calibri"/>
                <a:ea typeface="Calibri"/>
                <a:cs typeface="Calibri"/>
                <a:sym typeface="Calibri"/>
              </a:rPr>
              <a:t>HARDWARE /SOFTWARE DETAILS</a:t>
            </a:r>
            <a:endParaRPr sz="1100" b="1" dirty="0"/>
          </a:p>
        </p:txBody>
      </p:sp>
      <p:sp>
        <p:nvSpPr>
          <p:cNvPr id="110" name="Google Shape;110;p26"/>
          <p:cNvSpPr txBox="1"/>
          <p:nvPr/>
        </p:nvSpPr>
        <p:spPr>
          <a:xfrm>
            <a:off x="616885" y="1427913"/>
            <a:ext cx="7644000" cy="2555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dirty="0"/>
              <a:t>Software</a:t>
            </a:r>
            <a:r>
              <a:rPr lang="en" dirty="0"/>
              <a:t>: Ansys Electronics Suite.</a:t>
            </a:r>
            <a:endParaRPr dirty="0"/>
          </a:p>
          <a:p>
            <a:pPr marL="0" lvl="0" indent="0" algn="just" rtl="0">
              <a:spcBef>
                <a:spcPts val="0"/>
              </a:spcBef>
              <a:spcAft>
                <a:spcPts val="0"/>
              </a:spcAft>
              <a:buClr>
                <a:schemeClr val="dk1"/>
              </a:buClr>
              <a:buSzPts val="1100"/>
              <a:buFont typeface="Arial"/>
              <a:buNone/>
            </a:pPr>
            <a:r>
              <a:rPr lang="en" dirty="0"/>
              <a:t>ANSYS Software is a widely-used suite of simulation tools designed for engineering and scientific applications. It offers a broad range of modules that allow users to simulate the behavior of systems across different fields like structural mechanics, fluid dynamics, thermal analysis, electromagnetics, and more. ANSYS is particularly valued in fields like aerospace, automotive, electronics, and healthcare, where simulation of complex physical phenomena is essential for product design and testing. Its robust set of tools enables engineers to predict how products will function in the real world, ensuring that prototypes are thoroughly tested virtually before physical production.</a:t>
            </a:r>
            <a:endParaRPr dirty="0"/>
          </a:p>
          <a:p>
            <a:pPr marL="0" lvl="0" indent="0" algn="just" rtl="0">
              <a:spcBef>
                <a:spcPts val="0"/>
              </a:spcBef>
              <a:spcAft>
                <a:spcPts val="0"/>
              </a:spcAft>
              <a:buClr>
                <a:schemeClr val="dk1"/>
              </a:buClr>
              <a:buSzPts val="1100"/>
              <a:buFont typeface="Arial"/>
              <a:buNone/>
            </a:pPr>
            <a:endParaRPr dirty="0"/>
          </a:p>
          <a:p>
            <a:pPr marL="0" lvl="0" indent="0" algn="just" rtl="0">
              <a:spcBef>
                <a:spcPts val="0"/>
              </a:spcBef>
              <a:spcAft>
                <a:spcPts val="0"/>
              </a:spcAft>
              <a:buClr>
                <a:schemeClr val="dk1"/>
              </a:buClr>
              <a:buSzPts val="1100"/>
              <a:buFont typeface="Arial"/>
              <a:buNone/>
            </a:pPr>
            <a:r>
              <a:rPr lang="en" b="1" dirty="0"/>
              <a:t>Hardware</a:t>
            </a:r>
            <a:r>
              <a:rPr lang="en" dirty="0"/>
              <a:t>: As of now, till Review 1, we haven't made use of any hardware equipment.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4"/>
        <p:cNvGrpSpPr/>
        <p:nvPr/>
      </p:nvGrpSpPr>
      <p:grpSpPr>
        <a:xfrm>
          <a:off x="0" y="0"/>
          <a:ext cx="0" cy="0"/>
          <a:chOff x="0" y="0"/>
          <a:chExt cx="0" cy="0"/>
        </a:xfrm>
      </p:grpSpPr>
      <p:sp>
        <p:nvSpPr>
          <p:cNvPr id="115" name="Google Shape;115;p27"/>
          <p:cNvSpPr txBox="1"/>
          <p:nvPr/>
        </p:nvSpPr>
        <p:spPr>
          <a:xfrm>
            <a:off x="3547626" y="453315"/>
            <a:ext cx="2048747" cy="273383"/>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1" i="0" u="none" strike="noStrike" cap="none" dirty="0">
                <a:solidFill>
                  <a:schemeClr val="dk1"/>
                </a:solidFill>
                <a:latin typeface="Calibri"/>
                <a:ea typeface="Calibri"/>
                <a:cs typeface="Calibri"/>
                <a:sym typeface="Calibri"/>
              </a:rPr>
              <a:t>OBJECTIVE</a:t>
            </a:r>
            <a:endParaRPr sz="1100" b="1" dirty="0"/>
          </a:p>
        </p:txBody>
      </p:sp>
      <p:sp>
        <p:nvSpPr>
          <p:cNvPr id="116" name="Google Shape;116;p27"/>
          <p:cNvSpPr txBox="1"/>
          <p:nvPr/>
        </p:nvSpPr>
        <p:spPr>
          <a:xfrm>
            <a:off x="517199" y="1057467"/>
            <a:ext cx="8109600" cy="3360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dirty="0"/>
              <a:t>The objective of this presentation is to provide a comprehensive overview of the utilization of metamaterials in enhancing antenna performance using metamaterials. By reviewing key research developments, we aim to:</a:t>
            </a:r>
            <a:endParaRPr dirty="0"/>
          </a:p>
          <a:p>
            <a:pPr marL="0" lvl="0" indent="0" algn="just" rtl="0">
              <a:spcBef>
                <a:spcPts val="0"/>
              </a:spcBef>
              <a:spcAft>
                <a:spcPts val="0"/>
              </a:spcAft>
              <a:buClr>
                <a:schemeClr val="dk1"/>
              </a:buClr>
              <a:buSzPts val="1100"/>
              <a:buFont typeface="Arial"/>
              <a:buNone/>
            </a:pPr>
            <a:endParaRPr dirty="0"/>
          </a:p>
          <a:p>
            <a:pPr marL="457200" lvl="0" indent="-317500" algn="just" rtl="0">
              <a:spcBef>
                <a:spcPts val="0"/>
              </a:spcBef>
              <a:spcAft>
                <a:spcPts val="0"/>
              </a:spcAft>
              <a:buSzPts val="1400"/>
              <a:buAutoNum type="arabicParenR"/>
            </a:pPr>
            <a:r>
              <a:rPr lang="en" dirty="0"/>
              <a:t>To understand the fundamental properties of metamaterials and their unique electromagnetic characteristics.</a:t>
            </a:r>
            <a:endParaRPr dirty="0"/>
          </a:p>
          <a:p>
            <a:pPr marL="457200" lvl="0" indent="-317500" algn="just" rtl="0">
              <a:spcBef>
                <a:spcPts val="0"/>
              </a:spcBef>
              <a:spcAft>
                <a:spcPts val="0"/>
              </a:spcAft>
              <a:buSzPts val="1400"/>
              <a:buAutoNum type="arabicParenR"/>
            </a:pPr>
            <a:r>
              <a:rPr lang="en" dirty="0"/>
              <a:t>To make use of Zero Index Metamaterial or ZIM to further improve obtained gain characteristics. </a:t>
            </a:r>
            <a:endParaRPr dirty="0"/>
          </a:p>
          <a:p>
            <a:pPr marL="457200" lvl="0" indent="-317500" algn="just" rtl="0">
              <a:spcBef>
                <a:spcPts val="0"/>
              </a:spcBef>
              <a:spcAft>
                <a:spcPts val="0"/>
              </a:spcAft>
              <a:buSzPts val="1400"/>
              <a:buAutoNum type="arabicParenR"/>
            </a:pPr>
            <a:r>
              <a:rPr lang="en" dirty="0"/>
              <a:t>To design metamaterial structure as a superstrate material </a:t>
            </a:r>
            <a:r>
              <a:rPr lang="en-US" dirty="0"/>
              <a:t>for gain enhancement.</a:t>
            </a:r>
            <a:endParaRPr dirty="0"/>
          </a:p>
          <a:p>
            <a:pPr marL="457200" lvl="0" indent="-317500" algn="just" rtl="0">
              <a:spcBef>
                <a:spcPts val="0"/>
              </a:spcBef>
              <a:spcAft>
                <a:spcPts val="0"/>
              </a:spcAft>
              <a:buSzPts val="1400"/>
              <a:buAutoNum type="arabicParenR"/>
            </a:pPr>
            <a:r>
              <a:rPr lang="en" dirty="0"/>
              <a:t>To understand the challenges, recent advancements, and future potential in integrating metamaterials into modern antenna designs for next-generation communication systems.</a:t>
            </a:r>
            <a:endParaRPr dirty="0"/>
          </a:p>
          <a:p>
            <a:pPr marL="0" lvl="0" indent="0" algn="just" rtl="0">
              <a:spcBef>
                <a:spcPts val="0"/>
              </a:spcBef>
              <a:spcAft>
                <a:spcPts val="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28"/>
          <p:cNvSpPr txBox="1"/>
          <p:nvPr/>
        </p:nvSpPr>
        <p:spPr>
          <a:xfrm>
            <a:off x="2901375" y="301410"/>
            <a:ext cx="3110400" cy="518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1" i="0" u="none" strike="noStrike" cap="none" dirty="0">
                <a:solidFill>
                  <a:schemeClr val="dk1"/>
                </a:solidFill>
                <a:latin typeface="Calibri"/>
                <a:ea typeface="Calibri"/>
                <a:cs typeface="Calibri"/>
                <a:sym typeface="Calibri"/>
              </a:rPr>
              <a:t>METHODOLOGY</a:t>
            </a:r>
            <a:endParaRPr sz="1100" b="1" dirty="0"/>
          </a:p>
        </p:txBody>
      </p:sp>
      <p:sp>
        <p:nvSpPr>
          <p:cNvPr id="122" name="Google Shape;122;p28"/>
          <p:cNvSpPr txBox="1"/>
          <p:nvPr/>
        </p:nvSpPr>
        <p:spPr>
          <a:xfrm>
            <a:off x="400700" y="1220025"/>
            <a:ext cx="8374200" cy="37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28"/>
          <p:cNvSpPr txBox="1"/>
          <p:nvPr/>
        </p:nvSpPr>
        <p:spPr>
          <a:xfrm>
            <a:off x="400700" y="900075"/>
            <a:ext cx="8263200" cy="3848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dirty="0"/>
              <a:t>As part of our work for the 1st review of our project, we undertook the task of designing and implementing 4 different designs using the Ansys Software. The methodology followed for the 4 designs is as follows:</a:t>
            </a:r>
            <a:endParaRPr dirty="0"/>
          </a:p>
          <a:p>
            <a:pPr marL="457200" lvl="0" indent="-317500" algn="just" rtl="0">
              <a:spcBef>
                <a:spcPts val="0"/>
              </a:spcBef>
              <a:spcAft>
                <a:spcPts val="0"/>
              </a:spcAft>
              <a:buSzPts val="1400"/>
              <a:buAutoNum type="arabicPeriod"/>
            </a:pPr>
            <a:r>
              <a:rPr lang="en" dirty="0"/>
              <a:t>We designed a rectangular microstrip antenna using a substrate called RT/duroid 5880 with a dielectric constant of 2.2, height(h) = 0.1588 cm so as to resonate at a frequency of 10 GHz.</a:t>
            </a:r>
            <a:endParaRPr dirty="0"/>
          </a:p>
          <a:p>
            <a:pPr marL="457200" lvl="0" indent="-317500" algn="just" rtl="0">
              <a:spcBef>
                <a:spcPts val="0"/>
              </a:spcBef>
              <a:spcAft>
                <a:spcPts val="0"/>
              </a:spcAft>
              <a:buSzPts val="1400"/>
              <a:buAutoNum type="arabicPeriod"/>
            </a:pPr>
            <a:r>
              <a:rPr lang="en" dirty="0"/>
              <a:t>In the second session, we designed a rectangular microstrip patch antenna using Inset Feeding. There was an impedance mismatch between the feed line and the radiator/patch. Hence, less power was radiated. To improve this, Inset Feeding is another technique.</a:t>
            </a:r>
            <a:endParaRPr dirty="0"/>
          </a:p>
          <a:p>
            <a:pPr marL="457200" lvl="0" indent="-317500" algn="just" rtl="0">
              <a:spcBef>
                <a:spcPts val="0"/>
              </a:spcBef>
              <a:spcAft>
                <a:spcPts val="0"/>
              </a:spcAft>
              <a:buSzPts val="1400"/>
              <a:buAutoNum type="arabicPeriod"/>
            </a:pPr>
            <a:r>
              <a:rPr lang="en" dirty="0"/>
              <a:t>We designed a rectangular microstrip antenna using Coaxial Feeding, which is basically another type of feeding mechanism, in which the RF Connector is connected at the ground (back side of antenna). It is like a cable that is connected to the TV at our home. It has 3 parts called: Inner Conductor, Outer Conductor and Teflon.</a:t>
            </a:r>
            <a:endParaRPr dirty="0"/>
          </a:p>
          <a:p>
            <a:pPr marL="457200" lvl="0" indent="-317500" algn="just" rtl="0">
              <a:spcBef>
                <a:spcPts val="0"/>
              </a:spcBef>
              <a:spcAft>
                <a:spcPts val="0"/>
              </a:spcAft>
              <a:buSzPts val="1400"/>
              <a:buAutoNum type="arabicPeriod"/>
            </a:pPr>
            <a:r>
              <a:rPr lang="en" dirty="0">
                <a:solidFill>
                  <a:schemeClr val="dk1"/>
                </a:solidFill>
              </a:rPr>
              <a:t>We designed a rectangular microstrip patch antenna using CPW feeding (coplanar waveguide feeding). In this condition, the radiator and ground plane are on the same side.</a:t>
            </a:r>
            <a:endParaRPr dirty="0"/>
          </a:p>
          <a:p>
            <a:pPr marL="457200" lvl="0" indent="0" algn="just" rtl="0">
              <a:spcBef>
                <a:spcPts val="0"/>
              </a:spcBef>
              <a:spcAft>
                <a:spcPts val="0"/>
              </a:spcAft>
              <a:buNone/>
            </a:pPr>
            <a:endParaRPr dirty="0"/>
          </a:p>
          <a:p>
            <a:pPr marL="457200" lvl="0" indent="0" algn="just" rtl="0">
              <a:spcBef>
                <a:spcPts val="0"/>
              </a:spcBef>
              <a:spcAft>
                <a:spcPts val="0"/>
              </a:spcAft>
              <a:buNone/>
            </a:pPr>
            <a:r>
              <a:rPr lang="en" dirty="0"/>
              <a:t>Once we successfully completed the analysis of the 4 designs above, we used the knowledge and skills gained to replicate the results of the original research paper shared with us.</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9"/>
          <p:cNvSpPr txBox="1"/>
          <p:nvPr/>
        </p:nvSpPr>
        <p:spPr>
          <a:xfrm>
            <a:off x="2943398" y="161713"/>
            <a:ext cx="3110400" cy="273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0" i="0" u="none" strike="noStrike" cap="none">
                <a:solidFill>
                  <a:schemeClr val="dk1"/>
                </a:solidFill>
                <a:latin typeface="Calibri"/>
                <a:ea typeface="Calibri"/>
                <a:cs typeface="Calibri"/>
                <a:sym typeface="Calibri"/>
              </a:rPr>
              <a:t>RESULTS</a:t>
            </a:r>
            <a:endParaRPr sz="1100"/>
          </a:p>
        </p:txBody>
      </p:sp>
      <p:sp>
        <p:nvSpPr>
          <p:cNvPr id="129" name="Google Shape;129;p29"/>
          <p:cNvSpPr txBox="1"/>
          <p:nvPr/>
        </p:nvSpPr>
        <p:spPr>
          <a:xfrm>
            <a:off x="271900" y="704900"/>
            <a:ext cx="8453400" cy="27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Setup 1 </a:t>
            </a:r>
            <a:endParaRPr/>
          </a:p>
        </p:txBody>
      </p:sp>
      <p:pic>
        <p:nvPicPr>
          <p:cNvPr id="130" name="Google Shape;130;p29"/>
          <p:cNvPicPr preferRelativeResize="0"/>
          <p:nvPr/>
        </p:nvPicPr>
        <p:blipFill>
          <a:blip r:embed="rId3">
            <a:alphaModFix/>
          </a:blip>
          <a:stretch>
            <a:fillRect/>
          </a:stretch>
        </p:blipFill>
        <p:spPr>
          <a:xfrm>
            <a:off x="1678863" y="1443525"/>
            <a:ext cx="5639476" cy="3512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30"/>
          <p:cNvPicPr preferRelativeResize="0"/>
          <p:nvPr/>
        </p:nvPicPr>
        <p:blipFill>
          <a:blip r:embed="rId3">
            <a:alphaModFix/>
          </a:blip>
          <a:stretch>
            <a:fillRect/>
          </a:stretch>
        </p:blipFill>
        <p:spPr>
          <a:xfrm>
            <a:off x="182592" y="816034"/>
            <a:ext cx="8338925" cy="3191374"/>
          </a:xfrm>
          <a:prstGeom prst="rect">
            <a:avLst/>
          </a:prstGeom>
          <a:noFill/>
          <a:ln>
            <a:noFill/>
          </a:ln>
        </p:spPr>
      </p:pic>
      <p:sp>
        <p:nvSpPr>
          <p:cNvPr id="136" name="Google Shape;136;p30"/>
          <p:cNvSpPr txBox="1"/>
          <p:nvPr/>
        </p:nvSpPr>
        <p:spPr>
          <a:xfrm>
            <a:off x="0" y="0"/>
            <a:ext cx="30000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300">
                <a:solidFill>
                  <a:schemeClr val="dk1"/>
                </a:solidFill>
                <a:latin typeface="Calibri"/>
                <a:ea typeface="Calibri"/>
                <a:cs typeface="Calibri"/>
                <a:sym typeface="Calibri"/>
              </a:rPr>
              <a:t>RESULTS</a:t>
            </a:r>
            <a:endParaRPr sz="1100">
              <a:solidFill>
                <a:schemeClr val="dk1"/>
              </a:solidFill>
            </a:endParaRPr>
          </a:p>
        </p:txBody>
      </p:sp>
      <p:sp>
        <p:nvSpPr>
          <p:cNvPr id="2" name="TextBox 1">
            <a:extLst>
              <a:ext uri="{FF2B5EF4-FFF2-40B4-BE49-F238E27FC236}">
                <a16:creationId xmlns:a16="http://schemas.microsoft.com/office/drawing/2014/main" id="{3DEB58D6-36A7-5772-F871-BF1BE432897E}"/>
              </a:ext>
            </a:extLst>
          </p:cNvPr>
          <p:cNvSpPr txBox="1"/>
          <p:nvPr/>
        </p:nvSpPr>
        <p:spPr>
          <a:xfrm>
            <a:off x="3828081" y="4327466"/>
            <a:ext cx="1289135" cy="307777"/>
          </a:xfrm>
          <a:prstGeom prst="rect">
            <a:avLst/>
          </a:prstGeom>
          <a:noFill/>
        </p:spPr>
        <p:txBody>
          <a:bodyPr wrap="none" rtlCol="0">
            <a:spAutoFit/>
          </a:bodyPr>
          <a:lstStyle/>
          <a:p>
            <a:r>
              <a:rPr lang="en-US" dirty="0"/>
              <a:t>S11 response</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1"/>
          <p:cNvSpPr txBox="1"/>
          <p:nvPr/>
        </p:nvSpPr>
        <p:spPr>
          <a:xfrm>
            <a:off x="0" y="0"/>
            <a:ext cx="30000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300">
                <a:solidFill>
                  <a:schemeClr val="dk1"/>
                </a:solidFill>
                <a:latin typeface="Calibri"/>
                <a:ea typeface="Calibri"/>
                <a:cs typeface="Calibri"/>
                <a:sym typeface="Calibri"/>
              </a:rPr>
              <a:t>RESULTS</a:t>
            </a:r>
            <a:endParaRPr/>
          </a:p>
        </p:txBody>
      </p:sp>
      <p:pic>
        <p:nvPicPr>
          <p:cNvPr id="142" name="Google Shape;142;p31"/>
          <p:cNvPicPr preferRelativeResize="0"/>
          <p:nvPr/>
        </p:nvPicPr>
        <p:blipFill>
          <a:blip r:embed="rId3">
            <a:alphaModFix/>
          </a:blip>
          <a:stretch>
            <a:fillRect/>
          </a:stretch>
        </p:blipFill>
        <p:spPr>
          <a:xfrm>
            <a:off x="1500000" y="1069963"/>
            <a:ext cx="5744450" cy="3398275"/>
          </a:xfrm>
          <a:prstGeom prst="rect">
            <a:avLst/>
          </a:prstGeom>
          <a:noFill/>
          <a:ln>
            <a:noFill/>
          </a:ln>
        </p:spPr>
      </p:pic>
      <p:sp>
        <p:nvSpPr>
          <p:cNvPr id="2" name="TextBox 1">
            <a:extLst>
              <a:ext uri="{FF2B5EF4-FFF2-40B4-BE49-F238E27FC236}">
                <a16:creationId xmlns:a16="http://schemas.microsoft.com/office/drawing/2014/main" id="{4B10B12B-F503-C3D6-A07E-3450289036EA}"/>
              </a:ext>
            </a:extLst>
          </p:cNvPr>
          <p:cNvSpPr txBox="1"/>
          <p:nvPr/>
        </p:nvSpPr>
        <p:spPr>
          <a:xfrm>
            <a:off x="2991879" y="4691612"/>
            <a:ext cx="2760692" cy="307777"/>
          </a:xfrm>
          <a:prstGeom prst="rect">
            <a:avLst/>
          </a:prstGeom>
          <a:noFill/>
        </p:spPr>
        <p:txBody>
          <a:bodyPr wrap="none" rtlCol="0">
            <a:spAutoFit/>
          </a:bodyPr>
          <a:lstStyle/>
          <a:p>
            <a:r>
              <a:rPr lang="en-US" dirty="0"/>
              <a:t>2D radiation pattern at 8.56 GHz</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2"/>
          <p:cNvSpPr txBox="1"/>
          <p:nvPr/>
        </p:nvSpPr>
        <p:spPr>
          <a:xfrm>
            <a:off x="0" y="0"/>
            <a:ext cx="30000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300">
                <a:solidFill>
                  <a:schemeClr val="dk1"/>
                </a:solidFill>
                <a:latin typeface="Calibri"/>
                <a:ea typeface="Calibri"/>
                <a:cs typeface="Calibri"/>
                <a:sym typeface="Calibri"/>
              </a:rPr>
              <a:t>RESULTS</a:t>
            </a:r>
            <a:endParaRPr sz="1100">
              <a:solidFill>
                <a:schemeClr val="dk1"/>
              </a:solidFill>
            </a:endParaRPr>
          </a:p>
        </p:txBody>
      </p:sp>
      <p:sp>
        <p:nvSpPr>
          <p:cNvPr id="149" name="Google Shape;149;p32"/>
          <p:cNvSpPr txBox="1"/>
          <p:nvPr/>
        </p:nvSpPr>
        <p:spPr>
          <a:xfrm>
            <a:off x="77075" y="60265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Setup 2 </a:t>
            </a:r>
            <a:endParaRPr/>
          </a:p>
        </p:txBody>
      </p:sp>
      <p:pic>
        <p:nvPicPr>
          <p:cNvPr id="150" name="Google Shape;150;p32"/>
          <p:cNvPicPr preferRelativeResize="0"/>
          <p:nvPr/>
        </p:nvPicPr>
        <p:blipFill>
          <a:blip r:embed="rId3">
            <a:alphaModFix/>
          </a:blip>
          <a:stretch>
            <a:fillRect/>
          </a:stretch>
        </p:blipFill>
        <p:spPr>
          <a:xfrm>
            <a:off x="3390650" y="1187412"/>
            <a:ext cx="5441051" cy="3281274"/>
          </a:xfrm>
          <a:prstGeom prst="rect">
            <a:avLst/>
          </a:prstGeom>
          <a:noFill/>
          <a:ln>
            <a:noFill/>
          </a:ln>
        </p:spPr>
      </p:pic>
      <p:sp>
        <p:nvSpPr>
          <p:cNvPr id="151" name="Google Shape;151;p32"/>
          <p:cNvSpPr txBox="1"/>
          <p:nvPr/>
        </p:nvSpPr>
        <p:spPr>
          <a:xfrm>
            <a:off x="5187338" y="60265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rPr>
              <a:t>Practical Design</a:t>
            </a:r>
            <a:endParaRPr dirty="0"/>
          </a:p>
        </p:txBody>
      </p:sp>
      <p:pic>
        <p:nvPicPr>
          <p:cNvPr id="152" name="Google Shape;152;p32"/>
          <p:cNvPicPr preferRelativeResize="0"/>
          <p:nvPr/>
        </p:nvPicPr>
        <p:blipFill>
          <a:blip r:embed="rId4">
            <a:alphaModFix/>
          </a:blip>
          <a:stretch>
            <a:fillRect/>
          </a:stretch>
        </p:blipFill>
        <p:spPr>
          <a:xfrm>
            <a:off x="390650" y="1650376"/>
            <a:ext cx="2734675" cy="3021775"/>
          </a:xfrm>
          <a:prstGeom prst="rect">
            <a:avLst/>
          </a:prstGeom>
          <a:noFill/>
          <a:ln>
            <a:noFill/>
          </a:ln>
        </p:spPr>
      </p:pic>
      <p:sp>
        <p:nvSpPr>
          <p:cNvPr id="153" name="Google Shape;153;p32"/>
          <p:cNvSpPr txBox="1"/>
          <p:nvPr/>
        </p:nvSpPr>
        <p:spPr>
          <a:xfrm>
            <a:off x="125325" y="1329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rPr>
              <a:t>Research Paper Design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3" name="Picture 2">
            <a:extLst>
              <a:ext uri="{FF2B5EF4-FFF2-40B4-BE49-F238E27FC236}">
                <a16:creationId xmlns:a16="http://schemas.microsoft.com/office/drawing/2014/main" id="{C8746B36-B411-9F10-4698-E333E539F075}"/>
              </a:ext>
            </a:extLst>
          </p:cNvPr>
          <p:cNvPicPr>
            <a:picLocks noChangeAspect="1"/>
          </p:cNvPicPr>
          <p:nvPr/>
        </p:nvPicPr>
        <p:blipFill>
          <a:blip r:embed="rId3"/>
          <a:stretch>
            <a:fillRect/>
          </a:stretch>
        </p:blipFill>
        <p:spPr>
          <a:xfrm>
            <a:off x="0" y="702169"/>
            <a:ext cx="9144000" cy="3739161"/>
          </a:xfrm>
          <a:prstGeom prst="rect">
            <a:avLst/>
          </a:prstGeom>
        </p:spPr>
      </p:pic>
      <p:sp>
        <p:nvSpPr>
          <p:cNvPr id="4" name="TextBox 3">
            <a:extLst>
              <a:ext uri="{FF2B5EF4-FFF2-40B4-BE49-F238E27FC236}">
                <a16:creationId xmlns:a16="http://schemas.microsoft.com/office/drawing/2014/main" id="{058D50CA-4620-5500-1C52-137E4AA1AE35}"/>
              </a:ext>
            </a:extLst>
          </p:cNvPr>
          <p:cNvSpPr txBox="1"/>
          <p:nvPr/>
        </p:nvSpPr>
        <p:spPr>
          <a:xfrm>
            <a:off x="3719593" y="4513446"/>
            <a:ext cx="1289135" cy="307777"/>
          </a:xfrm>
          <a:prstGeom prst="rect">
            <a:avLst/>
          </a:prstGeom>
          <a:noFill/>
        </p:spPr>
        <p:txBody>
          <a:bodyPr wrap="none" rtlCol="0">
            <a:spAutoFit/>
          </a:bodyPr>
          <a:lstStyle/>
          <a:p>
            <a:r>
              <a:rPr lang="en-US" dirty="0"/>
              <a:t>S11 response</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30DD73-F001-D22B-8ECF-6250F25D440E}"/>
              </a:ext>
            </a:extLst>
          </p:cNvPr>
          <p:cNvPicPr>
            <a:picLocks noChangeAspect="1"/>
          </p:cNvPicPr>
          <p:nvPr/>
        </p:nvPicPr>
        <p:blipFill>
          <a:blip r:embed="rId2"/>
          <a:stretch>
            <a:fillRect/>
          </a:stretch>
        </p:blipFill>
        <p:spPr>
          <a:xfrm>
            <a:off x="2068795" y="662389"/>
            <a:ext cx="6021319" cy="3617243"/>
          </a:xfrm>
          <a:prstGeom prst="rect">
            <a:avLst/>
          </a:prstGeom>
        </p:spPr>
      </p:pic>
      <p:sp>
        <p:nvSpPr>
          <p:cNvPr id="4" name="TextBox 3">
            <a:extLst>
              <a:ext uri="{FF2B5EF4-FFF2-40B4-BE49-F238E27FC236}">
                <a16:creationId xmlns:a16="http://schemas.microsoft.com/office/drawing/2014/main" id="{E9AB5804-F08F-0A2C-31C5-2EC3EF7336F2}"/>
              </a:ext>
            </a:extLst>
          </p:cNvPr>
          <p:cNvSpPr txBox="1"/>
          <p:nvPr/>
        </p:nvSpPr>
        <p:spPr>
          <a:xfrm>
            <a:off x="2897186" y="4552128"/>
            <a:ext cx="2760692" cy="307777"/>
          </a:xfrm>
          <a:prstGeom prst="rect">
            <a:avLst/>
          </a:prstGeom>
          <a:noFill/>
        </p:spPr>
        <p:txBody>
          <a:bodyPr wrap="none" rtlCol="0">
            <a:spAutoFit/>
          </a:bodyPr>
          <a:lstStyle/>
          <a:p>
            <a:r>
              <a:rPr lang="en-US" dirty="0"/>
              <a:t>2D radiation pattern at 8.6 GHz</a:t>
            </a:r>
            <a:endParaRPr lang="en-IN" dirty="0"/>
          </a:p>
        </p:txBody>
      </p:sp>
    </p:spTree>
    <p:extLst>
      <p:ext uri="{BB962C8B-B14F-4D97-AF65-F5344CB8AC3E}">
        <p14:creationId xmlns:p14="http://schemas.microsoft.com/office/powerpoint/2010/main" val="281008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4"/>
          <p:cNvSpPr txBox="1"/>
          <p:nvPr/>
        </p:nvSpPr>
        <p:spPr>
          <a:xfrm>
            <a:off x="2901373" y="701288"/>
            <a:ext cx="3110457" cy="2733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500"/>
              <a:buFont typeface="Calibri"/>
              <a:buNone/>
            </a:pPr>
            <a:r>
              <a:rPr lang="en" sz="3500" b="0" i="0" u="none" strike="noStrike" cap="none" dirty="0">
                <a:solidFill>
                  <a:schemeClr val="dk1"/>
                </a:solidFill>
                <a:latin typeface="Calibri"/>
                <a:ea typeface="Calibri"/>
                <a:cs typeface="Calibri"/>
                <a:sym typeface="Calibri"/>
              </a:rPr>
              <a:t>CONCLUSIONS</a:t>
            </a:r>
            <a:endParaRPr sz="1100" dirty="0"/>
          </a:p>
          <a:p>
            <a:pPr marL="0" marR="0" lvl="0" indent="0" algn="l" rtl="0">
              <a:lnSpc>
                <a:spcPct val="100000"/>
              </a:lnSpc>
              <a:spcBef>
                <a:spcPts val="0"/>
              </a:spcBef>
              <a:spcAft>
                <a:spcPts val="0"/>
              </a:spcAft>
              <a:buClr>
                <a:schemeClr val="dk1"/>
              </a:buClr>
              <a:buSzPts val="3500"/>
              <a:buFont typeface="Calibri"/>
              <a:buNone/>
            </a:pPr>
            <a:br>
              <a:rPr lang="en" sz="3500" b="0" i="0" u="none" strike="noStrike" cap="none" dirty="0">
                <a:solidFill>
                  <a:schemeClr val="dk1"/>
                </a:solidFill>
                <a:latin typeface="Calibri"/>
                <a:ea typeface="Calibri"/>
                <a:cs typeface="Calibri"/>
                <a:sym typeface="Calibri"/>
              </a:rPr>
            </a:br>
            <a:endParaRPr sz="1100" dirty="0"/>
          </a:p>
        </p:txBody>
      </p:sp>
      <p:sp>
        <p:nvSpPr>
          <p:cNvPr id="163" name="Google Shape;163;p34"/>
          <p:cNvSpPr txBox="1"/>
          <p:nvPr/>
        </p:nvSpPr>
        <p:spPr>
          <a:xfrm>
            <a:off x="577601" y="1488960"/>
            <a:ext cx="7758000" cy="1693200"/>
          </a:xfrm>
          <a:prstGeom prst="rect">
            <a:avLst/>
          </a:prstGeom>
          <a:noFill/>
          <a:ln>
            <a:noFill/>
          </a:ln>
        </p:spPr>
        <p:txBody>
          <a:bodyPr spcFirstLastPara="1" wrap="square" lIns="91425" tIns="91425" rIns="91425" bIns="91425" anchor="t" anchorCtr="0">
            <a:spAutoFit/>
          </a:bodyPr>
          <a:lstStyle/>
          <a:p>
            <a:pPr marL="457200" lvl="0" indent="-317500" algn="just" rtl="0">
              <a:spcBef>
                <a:spcPts val="0"/>
              </a:spcBef>
              <a:spcAft>
                <a:spcPts val="0"/>
              </a:spcAft>
              <a:buSzPts val="1400"/>
              <a:buChar char="●"/>
            </a:pPr>
            <a:r>
              <a:rPr lang="en" dirty="0"/>
              <a:t>The incorporation of metamaterials in antenna design marks a cutting-edge innovation, where engineered materials with distinct electromagnetic properties open up new avenues for improving wireless communication, sensing, and imaging technologies. </a:t>
            </a:r>
            <a:endParaRPr dirty="0"/>
          </a:p>
          <a:p>
            <a:pPr marL="457200" lvl="0" indent="0" algn="just" rtl="0">
              <a:spcBef>
                <a:spcPts val="0"/>
              </a:spcBef>
              <a:spcAft>
                <a:spcPts val="0"/>
              </a:spcAft>
              <a:buNone/>
            </a:pPr>
            <a:endParaRPr dirty="0"/>
          </a:p>
          <a:p>
            <a:pPr marL="457200" lvl="0" indent="-317500" algn="just" rtl="0">
              <a:spcBef>
                <a:spcPts val="0"/>
              </a:spcBef>
              <a:spcAft>
                <a:spcPts val="0"/>
              </a:spcAft>
              <a:buSzPts val="1400"/>
              <a:buChar char="●"/>
            </a:pPr>
            <a:r>
              <a:rPr lang="en" dirty="0"/>
              <a:t>As research in this area progresses, we can expect further groundbreaking applications that harness the remarkable capabilities of metamaterials. </a:t>
            </a:r>
            <a:endParaRPr dirty="0"/>
          </a:p>
          <a:p>
            <a:pPr marL="457200" lvl="0" indent="0" algn="l" rtl="0">
              <a:spcBef>
                <a:spcPts val="0"/>
              </a:spcBef>
              <a:spcAft>
                <a:spcPts val="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5"/>
          <p:cNvSpPr txBox="1"/>
          <p:nvPr/>
        </p:nvSpPr>
        <p:spPr>
          <a:xfrm>
            <a:off x="1555100" y="340962"/>
            <a:ext cx="55230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500"/>
              <a:buFont typeface="Calibri"/>
              <a:buNone/>
            </a:pPr>
            <a:r>
              <a:rPr lang="en" sz="3500" b="0" i="0" u="none" strike="noStrike" cap="none" dirty="0">
                <a:solidFill>
                  <a:schemeClr val="dk1"/>
                </a:solidFill>
                <a:latin typeface="Calibri"/>
                <a:ea typeface="Calibri"/>
                <a:cs typeface="Calibri"/>
                <a:sym typeface="Calibri"/>
              </a:rPr>
              <a:t>SCOPE FOR IMPROVEMENT</a:t>
            </a:r>
            <a:endParaRPr sz="1100" dirty="0"/>
          </a:p>
          <a:p>
            <a:pPr marL="0" marR="0" lvl="0" indent="0" algn="l" rtl="0">
              <a:lnSpc>
                <a:spcPct val="100000"/>
              </a:lnSpc>
              <a:spcBef>
                <a:spcPts val="0"/>
              </a:spcBef>
              <a:spcAft>
                <a:spcPts val="0"/>
              </a:spcAft>
              <a:buNone/>
            </a:pPr>
            <a:endParaRPr sz="3500" b="0" i="0" u="none" dirty="0">
              <a:solidFill>
                <a:schemeClr val="dk1"/>
              </a:solidFill>
              <a:latin typeface="Calibri"/>
              <a:ea typeface="Calibri"/>
              <a:cs typeface="Calibri"/>
              <a:sym typeface="Calibri"/>
            </a:endParaRPr>
          </a:p>
        </p:txBody>
      </p:sp>
      <p:sp>
        <p:nvSpPr>
          <p:cNvPr id="169" name="Google Shape;169;p35"/>
          <p:cNvSpPr txBox="1"/>
          <p:nvPr/>
        </p:nvSpPr>
        <p:spPr>
          <a:xfrm>
            <a:off x="301550" y="997062"/>
            <a:ext cx="8030100" cy="2985402"/>
          </a:xfrm>
          <a:prstGeom prst="rect">
            <a:avLst/>
          </a:prstGeom>
          <a:noFill/>
          <a:ln>
            <a:noFill/>
          </a:ln>
        </p:spPr>
        <p:txBody>
          <a:bodyPr spcFirstLastPara="1" wrap="square" lIns="91425" tIns="91425" rIns="91425" bIns="91425" anchor="t" anchorCtr="0">
            <a:spAutoFit/>
          </a:bodyPr>
          <a:lstStyle/>
          <a:p>
            <a:pPr marL="285750" lvl="0" indent="-285750" algn="just" rtl="0">
              <a:spcBef>
                <a:spcPts val="0"/>
              </a:spcBef>
              <a:spcAft>
                <a:spcPts val="0"/>
              </a:spcAft>
              <a:buClr>
                <a:schemeClr val="dk1"/>
              </a:buClr>
              <a:buSzPts val="1100"/>
              <a:buFont typeface="Wingdings" panose="05000000000000000000" pitchFamily="2" charset="2"/>
              <a:buChar char="q"/>
            </a:pPr>
            <a:r>
              <a:rPr lang="en" dirty="0"/>
              <a:t>Metamaterial (MTM)-based antennas have notable benefits but also face limitations. They suffer from resonance frequency saturation, narrow bandwidth, and performance trade-offs due to miniaturization. MTMs show reduced response at higher frequencies and face challenges in manufacturing and reconfigurability. They can be bulky and lossy at microwave frequencies.</a:t>
            </a:r>
            <a:endParaRPr dirty="0"/>
          </a:p>
          <a:p>
            <a:pPr marL="285750" lvl="0" indent="-285750" algn="just" rtl="0">
              <a:spcBef>
                <a:spcPts val="0"/>
              </a:spcBef>
              <a:spcAft>
                <a:spcPts val="0"/>
              </a:spcAft>
              <a:buClr>
                <a:schemeClr val="dk1"/>
              </a:buClr>
              <a:buSzPts val="1100"/>
              <a:buFont typeface="Wingdings" panose="05000000000000000000" pitchFamily="2" charset="2"/>
              <a:buChar char="q"/>
            </a:pPr>
            <a:endParaRPr dirty="0"/>
          </a:p>
          <a:p>
            <a:pPr marL="285750" lvl="0" indent="-285750" algn="just" rtl="0">
              <a:spcBef>
                <a:spcPts val="0"/>
              </a:spcBef>
              <a:spcAft>
                <a:spcPts val="0"/>
              </a:spcAft>
              <a:buClr>
                <a:schemeClr val="dk1"/>
              </a:buClr>
              <a:buSzPts val="1100"/>
              <a:buFont typeface="Wingdings" panose="05000000000000000000" pitchFamily="2" charset="2"/>
              <a:buChar char="q"/>
            </a:pPr>
            <a:r>
              <a:rPr lang="en" dirty="0"/>
              <a:t>While MTMs can enhance gain and isolation, integrating them with beam-steerable antennas is difficult. Current designs mostly address fixed-beam systems, highlighting the need for reconfigurable solutions. Wideband or multi-band isolation remains challenging, and radar systems require MTMs that provide high isolation without added bulk.</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6"/>
          <p:cNvSpPr txBox="1"/>
          <p:nvPr/>
        </p:nvSpPr>
        <p:spPr>
          <a:xfrm>
            <a:off x="2908193" y="110170"/>
            <a:ext cx="3110400"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500"/>
              <a:buFont typeface="Calibri"/>
              <a:buNone/>
            </a:pPr>
            <a:r>
              <a:rPr lang="en" sz="3500" b="1" i="0" u="none" dirty="0">
                <a:solidFill>
                  <a:schemeClr val="dk1"/>
                </a:solidFill>
                <a:latin typeface="Calibri"/>
                <a:ea typeface="Calibri"/>
                <a:cs typeface="Calibri"/>
                <a:sym typeface="Calibri"/>
              </a:rPr>
              <a:t>SOCIAL IMPACT</a:t>
            </a:r>
            <a:endParaRPr sz="1100" b="1" dirty="0"/>
          </a:p>
        </p:txBody>
      </p:sp>
      <p:sp>
        <p:nvSpPr>
          <p:cNvPr id="175" name="Google Shape;175;p36"/>
          <p:cNvSpPr txBox="1"/>
          <p:nvPr/>
        </p:nvSpPr>
        <p:spPr>
          <a:xfrm>
            <a:off x="326699" y="644212"/>
            <a:ext cx="8515083" cy="4499288"/>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sz="1200" dirty="0"/>
              <a:t>The social impact of utilizing metamaterials to enhance antenna performance is significant, as it can drive advancements in communication technologies and enable widespread societal benefits. Key social impacts include:</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1. Improved Connectivity: Enhancing antenna performance with metamaterials can lead to better signal quality, coverage, and data speeds in wireless networks. This improves global access to reliable internet, especially in rural and underserved areas, contributing to digital inclusion and reducing the digital divide.</a:t>
            </a:r>
            <a:endParaRPr sz="1200" dirty="0"/>
          </a:p>
          <a:p>
            <a:pPr marL="0" lvl="0" indent="0" algn="just" rtl="0">
              <a:spcBef>
                <a:spcPts val="0"/>
              </a:spcBef>
              <a:spcAft>
                <a:spcPts val="0"/>
              </a:spcAft>
              <a:buClr>
                <a:schemeClr val="dk1"/>
              </a:buClr>
              <a:buSzPts val="1100"/>
              <a:buFont typeface="Arial"/>
              <a:buNone/>
            </a:pPr>
            <a:r>
              <a:rPr lang="en" sz="1200" dirty="0"/>
              <a:t>  </a:t>
            </a:r>
            <a:endParaRPr sz="1200" dirty="0"/>
          </a:p>
          <a:p>
            <a:pPr marL="0" lvl="0" indent="0" algn="just" rtl="0">
              <a:spcBef>
                <a:spcPts val="0"/>
              </a:spcBef>
              <a:spcAft>
                <a:spcPts val="0"/>
              </a:spcAft>
              <a:buClr>
                <a:schemeClr val="dk1"/>
              </a:buClr>
              <a:buSzPts val="1100"/>
              <a:buFont typeface="Arial"/>
              <a:buNone/>
            </a:pPr>
            <a:r>
              <a:rPr lang="en" sz="1200" dirty="0"/>
              <a:t>2. Advancements in Healthcare: Metamaterial-based antennas can improve the performance of medical devices such as MRI machines, wearable health monitors, and wireless implants. These innovations can lead to better diagnostic tools and real-time monitoring systems, improving healthcare outcomes.</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3. Smart Cities and IoT: High-performance antennas are crucial for the growth of smart cities and the Internet of Things (IoT), where millions of devices are interconnected. This can enhance urban planning, environmental monitoring, and transportation, leading to more efficient, sustainable, and safer cities.</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4. Sustainability and Energy Efficiency: Metamaterials can enable the development of smaller, more efficient antennas, reducing the energy consumption of communication devices. This contributes to environmental sustainability by lowering the carbon footprint of global communication infrastructure.</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5. Economic Growth: Enhanced antenna performance supports advancements in industries like telecommunications, defense, and aerospace, fostering economic growth, job creation, and innovation. It enables faster deployment of next-generation technologies like 5G and 6G, driving economic development and global competitiveness.</a:t>
            </a:r>
            <a:endParaRPr sz="1200" dirty="0"/>
          </a:p>
          <a:p>
            <a:pPr marL="0" lvl="0" indent="0" algn="l" rtl="0">
              <a:spcBef>
                <a:spcPts val="0"/>
              </a:spcBef>
              <a:spcAft>
                <a:spcPts val="0"/>
              </a:spcAft>
              <a:buNone/>
            </a:pPr>
            <a:endParaRPr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8"/>
          <p:cNvSpPr txBox="1"/>
          <p:nvPr/>
        </p:nvSpPr>
        <p:spPr>
          <a:xfrm>
            <a:off x="299582" y="687719"/>
            <a:ext cx="8544836" cy="4326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sz="1200" dirty="0"/>
              <a:t> 1. SDG 9: Industry, Innovation, and Infrastructure</a:t>
            </a:r>
            <a:endParaRPr sz="1200" dirty="0"/>
          </a:p>
          <a:p>
            <a:pPr marL="0" lvl="0" indent="0" algn="just" rtl="0">
              <a:spcBef>
                <a:spcPts val="0"/>
              </a:spcBef>
              <a:spcAft>
                <a:spcPts val="0"/>
              </a:spcAft>
              <a:buClr>
                <a:schemeClr val="dk1"/>
              </a:buClr>
              <a:buSzPts val="1100"/>
              <a:buFont typeface="Arial"/>
              <a:buNone/>
            </a:pPr>
            <a:r>
              <a:rPr lang="en" sz="1200" dirty="0"/>
              <a:t>   - Relevance: Advanced antenna technologies powered by metamaterials play a critical role in modernizing communication infrastructure, especially with the deployment of 5G, IoT, and other advanced wireless networks. Improved connectivity drives industrial innovation and fosters the development of smart cities and modern industries.</a:t>
            </a:r>
            <a:endParaRPr sz="1200" dirty="0"/>
          </a:p>
          <a:p>
            <a:pPr marL="0" lvl="0" indent="0" algn="just" rtl="0">
              <a:spcBef>
                <a:spcPts val="0"/>
              </a:spcBef>
              <a:spcAft>
                <a:spcPts val="0"/>
              </a:spcAft>
              <a:buClr>
                <a:schemeClr val="dk1"/>
              </a:buClr>
              <a:buSzPts val="1100"/>
              <a:buFont typeface="Arial"/>
              <a:buNone/>
            </a:pPr>
            <a:r>
              <a:rPr lang="en" sz="1200" dirty="0"/>
              <a:t>   - Elaboration: Enhancing antenna performance leads to more reliable and efficient networks that can support emerging technologies like autonomous vehicles, smart energy grids, and advanced manufacturing, thus strengthening global infrastructure and innovation ecosystems.</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 2. SDG 3: Good Health and Well-Being</a:t>
            </a:r>
            <a:endParaRPr sz="1200" dirty="0"/>
          </a:p>
          <a:p>
            <a:pPr marL="0" lvl="0" indent="0" algn="just" rtl="0">
              <a:spcBef>
                <a:spcPts val="0"/>
              </a:spcBef>
              <a:spcAft>
                <a:spcPts val="0"/>
              </a:spcAft>
              <a:buClr>
                <a:schemeClr val="dk1"/>
              </a:buClr>
              <a:buSzPts val="1100"/>
              <a:buFont typeface="Arial"/>
              <a:buNone/>
            </a:pPr>
            <a:r>
              <a:rPr lang="en" sz="1200" dirty="0"/>
              <a:t>   - Relevance: Metamaterial-enhanced antennas have potential applications in medical technologies, such as MRI machines, wearable health devices, and telemedicine, improving health outcomes and access to healthcare.</a:t>
            </a:r>
            <a:endParaRPr sz="1200" dirty="0"/>
          </a:p>
          <a:p>
            <a:pPr marL="0" lvl="0" indent="0" algn="just" rtl="0">
              <a:spcBef>
                <a:spcPts val="0"/>
              </a:spcBef>
              <a:spcAft>
                <a:spcPts val="0"/>
              </a:spcAft>
              <a:buClr>
                <a:schemeClr val="dk1"/>
              </a:buClr>
              <a:buSzPts val="1100"/>
              <a:buFont typeface="Arial"/>
              <a:buNone/>
            </a:pPr>
            <a:r>
              <a:rPr lang="en" sz="1200" dirty="0"/>
              <a:t>   - Elaboration: With better antennas, remote health monitoring and telemedicine services can become more reliable, allowing for improved healthcare delivery, particularly in remote and underserved areas. This contributes to ensuring healthy lives and promoting well-being for people worldwide.</a:t>
            </a:r>
            <a:endParaRPr sz="1200" dirty="0"/>
          </a:p>
          <a:p>
            <a:pPr marL="0" lvl="0" indent="0" algn="just" rtl="0">
              <a:spcBef>
                <a:spcPts val="0"/>
              </a:spcBef>
              <a:spcAft>
                <a:spcPts val="0"/>
              </a:spcAft>
              <a:buClr>
                <a:schemeClr val="dk1"/>
              </a:buClr>
              <a:buSzPts val="1100"/>
              <a:buFont typeface="Arial"/>
              <a:buNone/>
            </a:pPr>
            <a:endParaRPr sz="1200" dirty="0"/>
          </a:p>
          <a:p>
            <a:pPr marL="0" lvl="0" indent="0" algn="just" rtl="0">
              <a:spcBef>
                <a:spcPts val="0"/>
              </a:spcBef>
              <a:spcAft>
                <a:spcPts val="0"/>
              </a:spcAft>
              <a:buClr>
                <a:schemeClr val="dk1"/>
              </a:buClr>
              <a:buSzPts val="1100"/>
              <a:buFont typeface="Arial"/>
              <a:buNone/>
            </a:pPr>
            <a:r>
              <a:rPr lang="en" sz="1200" dirty="0"/>
              <a:t> 3. SDG 11: Sustainable Cities and Communities</a:t>
            </a:r>
            <a:endParaRPr sz="1200" dirty="0"/>
          </a:p>
          <a:p>
            <a:pPr marL="0" lvl="0" indent="0" algn="just" rtl="0">
              <a:spcBef>
                <a:spcPts val="0"/>
              </a:spcBef>
              <a:spcAft>
                <a:spcPts val="0"/>
              </a:spcAft>
              <a:buClr>
                <a:schemeClr val="dk1"/>
              </a:buClr>
              <a:buSzPts val="1100"/>
              <a:buFont typeface="Arial"/>
              <a:buNone/>
            </a:pPr>
            <a:r>
              <a:rPr lang="en" sz="1200" dirty="0"/>
              <a:t>   - Relevance: High-performance antennas are essential for the development of smart cities, which rely on interconnected systems for efficient transportation, environmental monitoring, and energy management.</a:t>
            </a:r>
            <a:endParaRPr sz="1200" dirty="0"/>
          </a:p>
          <a:p>
            <a:pPr marL="0" lvl="0" indent="0" algn="just" rtl="0">
              <a:spcBef>
                <a:spcPts val="0"/>
              </a:spcBef>
              <a:spcAft>
                <a:spcPts val="0"/>
              </a:spcAft>
              <a:buClr>
                <a:schemeClr val="dk1"/>
              </a:buClr>
              <a:buSzPts val="1100"/>
              <a:buFont typeface="Arial"/>
              <a:buNone/>
            </a:pPr>
            <a:r>
              <a:rPr lang="en" sz="1200" dirty="0"/>
              <a:t>   - Elaboration: The use of metamaterials to improve antenna efficiency contributes to the optimization of smart city technologies, enabling sustainable urban development, improved safety, and better resource management, all of which enhance the quality of life in urban communities.</a:t>
            </a:r>
            <a:endParaRPr sz="1200" dirty="0"/>
          </a:p>
          <a:p>
            <a:pPr marL="0" lvl="0" indent="0" algn="l" rtl="0">
              <a:spcBef>
                <a:spcPts val="0"/>
              </a:spcBef>
              <a:spcAft>
                <a:spcPts val="0"/>
              </a:spcAft>
              <a:buClr>
                <a:schemeClr val="dk1"/>
              </a:buClr>
              <a:buSzPts val="1100"/>
              <a:buFont typeface="Arial"/>
              <a:buNone/>
            </a:pPr>
            <a:endParaRPr sz="1600" dirty="0"/>
          </a:p>
          <a:p>
            <a:pPr marL="0" lvl="0" indent="0" algn="l" rtl="0">
              <a:spcBef>
                <a:spcPts val="0"/>
              </a:spcBef>
              <a:spcAft>
                <a:spcPts val="0"/>
              </a:spcAft>
              <a:buNone/>
            </a:pPr>
            <a:endParaRPr sz="1600" dirty="0"/>
          </a:p>
        </p:txBody>
      </p:sp>
      <p:sp>
        <p:nvSpPr>
          <p:cNvPr id="3" name="TextBox 2">
            <a:extLst>
              <a:ext uri="{FF2B5EF4-FFF2-40B4-BE49-F238E27FC236}">
                <a16:creationId xmlns:a16="http://schemas.microsoft.com/office/drawing/2014/main" id="{1AFEB47D-E750-A945-C140-B9DCD0975DF8}"/>
              </a:ext>
            </a:extLst>
          </p:cNvPr>
          <p:cNvSpPr txBox="1"/>
          <p:nvPr/>
        </p:nvSpPr>
        <p:spPr>
          <a:xfrm>
            <a:off x="1933413" y="287609"/>
            <a:ext cx="5277173" cy="400110"/>
          </a:xfrm>
          <a:prstGeom prst="rect">
            <a:avLst/>
          </a:prstGeom>
          <a:noFill/>
        </p:spPr>
        <p:txBody>
          <a:bodyPr wrap="square">
            <a:spAutoFit/>
          </a:bodyPr>
          <a:lstStyle/>
          <a:p>
            <a:r>
              <a:rPr lang="en" sz="2000" b="1" dirty="0"/>
              <a:t>Sustainable Development Goals (SDGs) </a:t>
            </a:r>
            <a:endParaRPr lang="en-IN" sz="20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p40"/>
          <p:cNvSpPr txBox="1"/>
          <p:nvPr/>
        </p:nvSpPr>
        <p:spPr>
          <a:xfrm>
            <a:off x="1691671" y="171474"/>
            <a:ext cx="5760658" cy="4872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0" i="0" u="none" dirty="0">
                <a:solidFill>
                  <a:schemeClr val="dk1"/>
                </a:solidFill>
                <a:latin typeface="Calibri"/>
                <a:ea typeface="Calibri"/>
                <a:cs typeface="Calibri"/>
                <a:sym typeface="Calibri"/>
              </a:rPr>
              <a:t>TIME LINE (Aug. to Nov 2024)</a:t>
            </a:r>
            <a:endParaRPr sz="1100" dirty="0"/>
          </a:p>
        </p:txBody>
      </p:sp>
      <p:graphicFrame>
        <p:nvGraphicFramePr>
          <p:cNvPr id="2" name="Content Placeholder 4">
            <a:extLst>
              <a:ext uri="{FF2B5EF4-FFF2-40B4-BE49-F238E27FC236}">
                <a16:creationId xmlns:a16="http://schemas.microsoft.com/office/drawing/2014/main" id="{806823C1-10CD-E5F6-D962-6AB2B36F37A0}"/>
              </a:ext>
            </a:extLst>
          </p:cNvPr>
          <p:cNvGraphicFramePr>
            <a:graphicFrameLocks/>
          </p:cNvGraphicFramePr>
          <p:nvPr>
            <p:extLst>
              <p:ext uri="{D42A27DB-BD31-4B8C-83A1-F6EECF244321}">
                <p14:modId xmlns:p14="http://schemas.microsoft.com/office/powerpoint/2010/main" val="1526644417"/>
              </p:ext>
            </p:extLst>
          </p:nvPr>
        </p:nvGraphicFramePr>
        <p:xfrm>
          <a:off x="550190" y="992721"/>
          <a:ext cx="8301601" cy="3799840"/>
        </p:xfrm>
        <a:graphic>
          <a:graphicData uri="http://schemas.openxmlformats.org/drawingml/2006/table">
            <a:tbl>
              <a:tblPr firstRow="1" bandRow="1">
                <a:tableStyleId>{8799B23B-EC83-4686-B30A-512413B5E67A}</a:tableStyleId>
              </a:tblPr>
              <a:tblGrid>
                <a:gridCol w="3547364">
                  <a:extLst>
                    <a:ext uri="{9D8B030D-6E8A-4147-A177-3AD203B41FA5}">
                      <a16:colId xmlns:a16="http://schemas.microsoft.com/office/drawing/2014/main" val="2584623202"/>
                    </a:ext>
                  </a:extLst>
                </a:gridCol>
                <a:gridCol w="950840">
                  <a:extLst>
                    <a:ext uri="{9D8B030D-6E8A-4147-A177-3AD203B41FA5}">
                      <a16:colId xmlns:a16="http://schemas.microsoft.com/office/drawing/2014/main" val="2625776832"/>
                    </a:ext>
                  </a:extLst>
                </a:gridCol>
                <a:gridCol w="1371404">
                  <a:extLst>
                    <a:ext uri="{9D8B030D-6E8A-4147-A177-3AD203B41FA5}">
                      <a16:colId xmlns:a16="http://schemas.microsoft.com/office/drawing/2014/main" val="2337558247"/>
                    </a:ext>
                  </a:extLst>
                </a:gridCol>
                <a:gridCol w="1078837">
                  <a:extLst>
                    <a:ext uri="{9D8B030D-6E8A-4147-A177-3AD203B41FA5}">
                      <a16:colId xmlns:a16="http://schemas.microsoft.com/office/drawing/2014/main" val="636716433"/>
                    </a:ext>
                  </a:extLst>
                </a:gridCol>
                <a:gridCol w="1353156">
                  <a:extLst>
                    <a:ext uri="{9D8B030D-6E8A-4147-A177-3AD203B41FA5}">
                      <a16:colId xmlns:a16="http://schemas.microsoft.com/office/drawing/2014/main" val="1423465564"/>
                    </a:ext>
                  </a:extLst>
                </a:gridCol>
              </a:tblGrid>
              <a:tr h="370840">
                <a:tc>
                  <a:txBody>
                    <a:bodyPr/>
                    <a:lstStyle/>
                    <a:p>
                      <a:pPr algn="ctr"/>
                      <a:endParaRPr lang="en-IN" b="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August</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September</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October</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November</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7816137"/>
                  </a:ext>
                </a:extLst>
              </a:tr>
              <a:tr h="432208">
                <a:tc>
                  <a:txBody>
                    <a:bodyPr/>
                    <a:lstStyle/>
                    <a:p>
                      <a:r>
                        <a:rPr lang="en-US" sz="1600" b="0" dirty="0">
                          <a:solidFill>
                            <a:schemeClr val="tx1"/>
                          </a:solidFill>
                        </a:rPr>
                        <a:t>Initial Team meeting and Initiation on project</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259343"/>
                  </a:ext>
                </a:extLst>
              </a:tr>
              <a:tr h="370840">
                <a:tc>
                  <a:txBody>
                    <a:bodyPr/>
                    <a:lstStyle/>
                    <a:p>
                      <a:r>
                        <a:rPr lang="en-US" sz="1600" b="0" dirty="0">
                          <a:solidFill>
                            <a:schemeClr val="tx1"/>
                          </a:solidFill>
                        </a:rPr>
                        <a:t>Literature Review</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0266262"/>
                  </a:ext>
                </a:extLst>
              </a:tr>
              <a:tr h="370840">
                <a:tc>
                  <a:txBody>
                    <a:bodyPr/>
                    <a:lstStyle/>
                    <a:p>
                      <a:r>
                        <a:rPr lang="en-US" sz="1600" b="0" dirty="0">
                          <a:solidFill>
                            <a:schemeClr val="tx1"/>
                          </a:solidFill>
                        </a:rPr>
                        <a:t>Practice of ANSYS HFSS EM software tool</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04916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chemeClr val="tx1"/>
                          </a:solidFill>
                          <a:effectLst/>
                        </a:rPr>
                        <a:t>Design and Simulation of  metamaterial based planar antenna</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105577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chemeClr val="tx1"/>
                          </a:solidFill>
                          <a:effectLst/>
                        </a:rPr>
                        <a:t>Fabrication of metamaterial-based antenna</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537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chemeClr val="tx1"/>
                          </a:solidFill>
                          <a:effectLst/>
                        </a:rPr>
                        <a:t>Validation of results</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srgbClr val="000000"/>
                          </a:solidFill>
                          <a:effectLst/>
                          <a:uLnTx/>
                          <a:uFillTx/>
                        </a:rPr>
                        <a:t>✔️</a:t>
                      </a:r>
                      <a:endParaRPr kumimoji="0" lang="en-IN" sz="1800" b="0" i="0" u="none" strike="noStrike" kern="1200" cap="none" spc="0" normalizeH="0" baseline="0" noProof="0" dirty="0">
                        <a:ln>
                          <a:noFill/>
                        </a:ln>
                        <a:solidFill>
                          <a:srgbClr val="000000"/>
                        </a:solidFill>
                        <a:effectLst/>
                        <a:uLnTx/>
                        <a:uFillTx/>
                        <a:latin typeface="Walbaum Display"/>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639168"/>
                  </a:ext>
                </a:extLst>
              </a:tr>
              <a:tr h="370840">
                <a:tc>
                  <a:txBody>
                    <a:bodyPr/>
                    <a:lstStyle/>
                    <a:p>
                      <a:r>
                        <a:rPr lang="en-US" sz="1600" b="0" dirty="0">
                          <a:solidFill>
                            <a:schemeClr val="tx1"/>
                          </a:solidFill>
                        </a:rPr>
                        <a:t>Report Writing</a:t>
                      </a:r>
                      <a:endParaRPr lang="en-IN" sz="1600" b="0" dirty="0">
                        <a:solidFill>
                          <a:schemeClr val="tx1"/>
                        </a:solidFill>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bg1"/>
                          </a:solidFill>
                        </a:rPr>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82743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7;p40">
            <a:extLst>
              <a:ext uri="{FF2B5EF4-FFF2-40B4-BE49-F238E27FC236}">
                <a16:creationId xmlns:a16="http://schemas.microsoft.com/office/drawing/2014/main" id="{2EC190D0-6BE9-C398-0A11-FB2B78D885AC}"/>
              </a:ext>
            </a:extLst>
          </p:cNvPr>
          <p:cNvSpPr txBox="1"/>
          <p:nvPr/>
        </p:nvSpPr>
        <p:spPr>
          <a:xfrm>
            <a:off x="1691671" y="171474"/>
            <a:ext cx="5760658" cy="4872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0" i="0" u="none" dirty="0">
                <a:solidFill>
                  <a:schemeClr val="dk1"/>
                </a:solidFill>
                <a:latin typeface="Calibri"/>
                <a:ea typeface="Calibri"/>
                <a:cs typeface="Calibri"/>
                <a:sym typeface="Calibri"/>
              </a:rPr>
              <a:t>References</a:t>
            </a:r>
            <a:endParaRPr sz="1100" dirty="0"/>
          </a:p>
        </p:txBody>
      </p:sp>
      <p:sp>
        <p:nvSpPr>
          <p:cNvPr id="3" name="TextBox 2">
            <a:extLst>
              <a:ext uri="{FF2B5EF4-FFF2-40B4-BE49-F238E27FC236}">
                <a16:creationId xmlns:a16="http://schemas.microsoft.com/office/drawing/2014/main" id="{635A07BB-7C48-78F2-3ABC-E2A66055FF86}"/>
              </a:ext>
            </a:extLst>
          </p:cNvPr>
          <p:cNvSpPr txBox="1"/>
          <p:nvPr/>
        </p:nvSpPr>
        <p:spPr>
          <a:xfrm>
            <a:off x="426203" y="805912"/>
            <a:ext cx="8524068" cy="3108543"/>
          </a:xfrm>
          <a:prstGeom prst="rect">
            <a:avLst/>
          </a:prstGeom>
          <a:noFill/>
        </p:spPr>
        <p:txBody>
          <a:bodyPr wrap="square" rtlCol="0">
            <a:spAutoFit/>
          </a:bodyPr>
          <a:lstStyle/>
          <a:p>
            <a:pPr marL="342900" indent="-342900">
              <a:buAutoNum type="arabicPeriod"/>
            </a:pPr>
            <a:r>
              <a:rPr lang="en-US" dirty="0"/>
              <a:t>S. Roy and U. Chakraborty, "Gain enhancement of a dual-band WLAN microstrip antenna loaded with diagonal pattern metamaterials," </a:t>
            </a:r>
            <a:r>
              <a:rPr lang="en-US" i="1" dirty="0"/>
              <a:t>IET Communications</a:t>
            </a:r>
            <a:r>
              <a:rPr lang="en-US" dirty="0"/>
              <a:t>, vol. 12, no. 12, pp. 1448-1453, 2018.</a:t>
            </a:r>
          </a:p>
          <a:p>
            <a:pPr marL="342900" indent="-342900">
              <a:buAutoNum type="arabicPeriod"/>
            </a:pPr>
            <a:r>
              <a:rPr lang="en-IN" dirty="0"/>
              <a:t>K. Konstantinidis, A. P. </a:t>
            </a:r>
            <a:r>
              <a:rPr lang="en-IN" dirty="0" err="1"/>
              <a:t>Feresidis</a:t>
            </a:r>
            <a:r>
              <a:rPr lang="en-IN" dirty="0"/>
              <a:t>, and P. S. Hall, "Broadband sub-wavelength profile high-gain antennas based on multi-layer </a:t>
            </a:r>
            <a:r>
              <a:rPr lang="en-IN" dirty="0" err="1"/>
              <a:t>metasurfaces</a:t>
            </a:r>
            <a:r>
              <a:rPr lang="en-IN" dirty="0"/>
              <a:t>," </a:t>
            </a:r>
            <a:r>
              <a:rPr lang="en-IN" i="1" dirty="0"/>
              <a:t>IEEE Transactions on Antennas and Propagation</a:t>
            </a:r>
            <a:r>
              <a:rPr lang="en-IN" dirty="0"/>
              <a:t>, vol. 63, no. 1, pp. 423–427, Jan. 2015.</a:t>
            </a:r>
            <a:endParaRPr lang="en-US" dirty="0"/>
          </a:p>
          <a:p>
            <a:pPr marL="342900" indent="-342900">
              <a:buAutoNum type="arabicPeriod"/>
            </a:pPr>
            <a:r>
              <a:rPr lang="en-IN" dirty="0"/>
              <a:t>K. Konstantinidis, A. P. </a:t>
            </a:r>
            <a:r>
              <a:rPr lang="en-IN" dirty="0" err="1"/>
              <a:t>Feresidis</a:t>
            </a:r>
            <a:r>
              <a:rPr lang="en-IN" dirty="0"/>
              <a:t>, and P. S. Hall, "Multilayer partially reflective surfaces for broadband Fabry-Perot cavity antennas," </a:t>
            </a:r>
            <a:r>
              <a:rPr lang="en-IN" i="1" dirty="0"/>
              <a:t>IEEE Transactions on Antennas and Propagation</a:t>
            </a:r>
            <a:r>
              <a:rPr lang="en-IN" dirty="0"/>
              <a:t>, vol. 62, no. 7, pp. 3474–3481, Jul. 2014.</a:t>
            </a:r>
          </a:p>
          <a:p>
            <a:pPr marL="342900" indent="-342900">
              <a:buAutoNum type="arabicPeriod"/>
            </a:pPr>
            <a:r>
              <a:rPr lang="en-IN" dirty="0"/>
              <a:t>B. Yuan, Y. H. Zheng, X. H. Zhang, B. You, and G. Q. Luo, "A bandwidth and gain enhancement for microstrip antenna based on metamaterial," </a:t>
            </a:r>
            <a:r>
              <a:rPr lang="en-IN" i="1" dirty="0"/>
              <a:t>Microwave and Optical Technology Letters</a:t>
            </a:r>
            <a:r>
              <a:rPr lang="en-IN" dirty="0"/>
              <a:t>, vol. 59, no. 12, pp. 3088–3093, Dec. 2017.</a:t>
            </a:r>
          </a:p>
          <a:p>
            <a:pPr marL="342900" indent="-342900">
              <a:buAutoNum type="arabicPeriod"/>
            </a:pPr>
            <a:r>
              <a:rPr lang="en-US" dirty="0"/>
              <a:t>L. </a:t>
            </a:r>
            <a:r>
              <a:rPr lang="en-US" dirty="0" err="1"/>
              <a:t>Asadpor</a:t>
            </a:r>
            <a:r>
              <a:rPr lang="en-US" dirty="0"/>
              <a:t>, G. Sharifi, and M. </a:t>
            </a:r>
            <a:r>
              <a:rPr lang="en-US" dirty="0" err="1"/>
              <a:t>Rezvani</a:t>
            </a:r>
            <a:r>
              <a:rPr lang="en-US" dirty="0"/>
              <a:t>, "Design of a high-gain wideband antenna using double-layer </a:t>
            </a:r>
            <a:r>
              <a:rPr lang="en-US" dirty="0" err="1"/>
              <a:t>metasurface</a:t>
            </a:r>
            <a:r>
              <a:rPr lang="en-US" dirty="0"/>
              <a:t>," </a:t>
            </a:r>
            <a:r>
              <a:rPr lang="en-US" i="1" dirty="0"/>
              <a:t>Microwave and Optical Technology Letters</a:t>
            </a:r>
            <a:r>
              <a:rPr lang="en-US" dirty="0"/>
              <a:t>, vol. 61, no. 4, pp. 1004–1010, Apr. </a:t>
            </a:r>
            <a:r>
              <a:rPr lang="en-US"/>
              <a:t>2019.</a:t>
            </a:r>
            <a:endParaRPr lang="en-US" dirty="0"/>
          </a:p>
          <a:p>
            <a:pPr marL="342900" indent="-342900">
              <a:buAutoNum type="arabicPeriod"/>
            </a:pPr>
            <a:endParaRPr lang="en-IN" dirty="0"/>
          </a:p>
        </p:txBody>
      </p:sp>
    </p:spTree>
    <p:extLst>
      <p:ext uri="{BB962C8B-B14F-4D97-AF65-F5344CB8AC3E}">
        <p14:creationId xmlns:p14="http://schemas.microsoft.com/office/powerpoint/2010/main" val="4258555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7;p40">
            <a:extLst>
              <a:ext uri="{FF2B5EF4-FFF2-40B4-BE49-F238E27FC236}">
                <a16:creationId xmlns:a16="http://schemas.microsoft.com/office/drawing/2014/main" id="{9EEDB401-15F6-DAA0-11FD-E57ED15BC2E0}"/>
              </a:ext>
            </a:extLst>
          </p:cNvPr>
          <p:cNvSpPr txBox="1"/>
          <p:nvPr/>
        </p:nvSpPr>
        <p:spPr>
          <a:xfrm>
            <a:off x="1691671" y="1744552"/>
            <a:ext cx="5760658" cy="4872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300"/>
              <a:buFont typeface="Calibri"/>
              <a:buNone/>
            </a:pPr>
            <a:r>
              <a:rPr lang="en" sz="3300" b="0" i="0" u="none" dirty="0">
                <a:solidFill>
                  <a:schemeClr val="dk1"/>
                </a:solidFill>
                <a:latin typeface="Calibri"/>
                <a:ea typeface="Calibri"/>
                <a:cs typeface="Calibri"/>
                <a:sym typeface="Calibri"/>
              </a:rPr>
              <a:t>Thank you</a:t>
            </a:r>
            <a:endParaRPr sz="1100" dirty="0"/>
          </a:p>
        </p:txBody>
      </p:sp>
    </p:spTree>
    <p:extLst>
      <p:ext uri="{BB962C8B-B14F-4D97-AF65-F5344CB8AC3E}">
        <p14:creationId xmlns:p14="http://schemas.microsoft.com/office/powerpoint/2010/main" val="237315471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default">
      <a:dk1>
        <a:srgbClr val="000000"/>
      </a:dk1>
      <a:lt1>
        <a:srgbClr val="FFFFFF"/>
      </a:lt1>
      <a:dk2>
        <a:srgbClr val="1F497D"/>
      </a:dk2>
      <a:lt2>
        <a:srgbClr val="EEECE1"/>
      </a:lt2>
      <a:accent1>
        <a:srgbClr val="4F81BD"/>
      </a:accent1>
      <a:accent2>
        <a:srgbClr val="C0504D"/>
      </a:accent2>
      <a:accent3>
        <a:srgbClr val="FFFFFF"/>
      </a:accent3>
      <a:accent4>
        <a:srgbClr val="4F81BD"/>
      </a:accent4>
      <a:accent5>
        <a:srgbClr val="C0504D"/>
      </a:accent5>
      <a:accent6>
        <a:srgbClr val="FFFFFF"/>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3253</Words>
  <Application>Microsoft Office PowerPoint</Application>
  <PresentationFormat>On-screen Show (16:9)</PresentationFormat>
  <Paragraphs>228</Paragraphs>
  <Slides>27</Slides>
  <Notes>24</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Simple Light</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Aryan Paruthi</dc:creator>
  <cp:lastModifiedBy>Akhila Pingali</cp:lastModifiedBy>
  <cp:revision>8</cp:revision>
  <dcterms:modified xsi:type="dcterms:W3CDTF">2026-01-16T04:54:29Z</dcterms:modified>
</cp:coreProperties>
</file>